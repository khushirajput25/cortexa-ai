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Barlow" panose="00000500000000000000" pitchFamily="2" charset="0"/>
      <p:regular r:id="rId9"/>
    </p:embeddedFont>
    <p:embeddedFont>
      <p:font typeface="Barlow Bold" panose="020B0604020202020204" charset="0"/>
      <p:regular r:id="rId10"/>
    </p:embeddedFont>
    <p:embeddedFont>
      <p:font typeface="Barlow Bold Italics" panose="020B0604020202020204" charset="0"/>
      <p:regular r:id="rId11"/>
    </p:embeddedFon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Canva Sans Bold Italics" panose="020B0604020202020204" charset="0"/>
      <p:regular r:id="rId14"/>
    </p:embeddedFont>
    <p:embeddedFont>
      <p:font typeface="Canva Sans Italics" panose="020B0604020202020204" charset="0"/>
      <p:regular r:id="rId15"/>
    </p:embeddedFont>
    <p:embeddedFont>
      <p:font typeface="More Sugar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46378" y="3575330"/>
            <a:ext cx="11506358" cy="1643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70"/>
              </a:lnSpc>
            </a:pPr>
            <a:r>
              <a:rPr lang="en-US" sz="1254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CORTEXA AI</a:t>
            </a:r>
          </a:p>
        </p:txBody>
      </p:sp>
      <p:sp>
        <p:nvSpPr>
          <p:cNvPr id="3" name="Freeform 3"/>
          <p:cNvSpPr/>
          <p:nvPr/>
        </p:nvSpPr>
        <p:spPr>
          <a:xfrm>
            <a:off x="13244251" y="-1"/>
            <a:ext cx="5043749" cy="4458555"/>
          </a:xfrm>
          <a:custGeom>
            <a:avLst/>
            <a:gdLst/>
            <a:ahLst/>
            <a:cxnLst/>
            <a:rect l="l" t="t" r="r" b="b"/>
            <a:pathLst>
              <a:path w="5043749" h="4865072">
                <a:moveTo>
                  <a:pt x="0" y="0"/>
                </a:moveTo>
                <a:lnTo>
                  <a:pt x="5043749" y="0"/>
                </a:lnTo>
                <a:lnTo>
                  <a:pt x="5043749" y="4865072"/>
                </a:lnTo>
                <a:lnTo>
                  <a:pt x="0" y="4865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8" r="-4868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37315" y="6494357"/>
            <a:ext cx="4050686" cy="3792644"/>
          </a:xfrm>
          <a:custGeom>
            <a:avLst/>
            <a:gdLst/>
            <a:ahLst/>
            <a:cxnLst/>
            <a:rect l="l" t="t" r="r" b="b"/>
            <a:pathLst>
              <a:path w="5640703" h="5527889">
                <a:moveTo>
                  <a:pt x="0" y="0"/>
                </a:moveTo>
                <a:lnTo>
                  <a:pt x="5640703" y="0"/>
                </a:lnTo>
                <a:lnTo>
                  <a:pt x="5640703" y="5527888"/>
                </a:lnTo>
                <a:lnTo>
                  <a:pt x="0" y="552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9253" b="-4575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-1"/>
            <a:ext cx="2923632" cy="2312901"/>
          </a:xfrm>
          <a:custGeom>
            <a:avLst/>
            <a:gdLst/>
            <a:ahLst/>
            <a:cxnLst/>
            <a:rect l="l" t="t" r="r" b="b"/>
            <a:pathLst>
              <a:path w="3876435" h="3164581">
                <a:moveTo>
                  <a:pt x="0" y="0"/>
                </a:moveTo>
                <a:lnTo>
                  <a:pt x="3876435" y="0"/>
                </a:lnTo>
                <a:lnTo>
                  <a:pt x="3876435" y="3164581"/>
                </a:lnTo>
                <a:lnTo>
                  <a:pt x="0" y="31645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2591" t="-36823" r="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56166" y="0"/>
            <a:ext cx="5035683" cy="2312901"/>
          </a:xfrm>
          <a:custGeom>
            <a:avLst/>
            <a:gdLst/>
            <a:ahLst/>
            <a:cxnLst/>
            <a:rect l="l" t="t" r="r" b="b"/>
            <a:pathLst>
              <a:path w="5035683" h="2312901">
                <a:moveTo>
                  <a:pt x="0" y="0"/>
                </a:moveTo>
                <a:lnTo>
                  <a:pt x="5035683" y="0"/>
                </a:lnTo>
                <a:lnTo>
                  <a:pt x="5035683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092840">
            <a:off x="-1355231" y="5594474"/>
            <a:ext cx="6105575" cy="5017673"/>
          </a:xfrm>
          <a:custGeom>
            <a:avLst/>
            <a:gdLst/>
            <a:ahLst/>
            <a:cxnLst/>
            <a:rect l="l" t="t" r="r" b="b"/>
            <a:pathLst>
              <a:path w="6105575" h="5017673">
                <a:moveTo>
                  <a:pt x="0" y="0"/>
                </a:moveTo>
                <a:lnTo>
                  <a:pt x="6105575" y="0"/>
                </a:lnTo>
                <a:lnTo>
                  <a:pt x="6105575" y="5017673"/>
                </a:lnTo>
                <a:lnTo>
                  <a:pt x="0" y="50176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4461" t="9316" r="13819" b="896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/>
          <p:cNvSpPr/>
          <p:nvPr/>
        </p:nvSpPr>
        <p:spPr>
          <a:xfrm rot="10479998">
            <a:off x="6456326" y="8059131"/>
            <a:ext cx="5221698" cy="2398338"/>
          </a:xfrm>
          <a:custGeom>
            <a:avLst/>
            <a:gdLst/>
            <a:ahLst/>
            <a:cxnLst/>
            <a:rect l="l" t="t" r="r" b="b"/>
            <a:pathLst>
              <a:path w="5221698" h="2398338">
                <a:moveTo>
                  <a:pt x="0" y="0"/>
                </a:moveTo>
                <a:lnTo>
                  <a:pt x="5221698" y="0"/>
                </a:lnTo>
                <a:lnTo>
                  <a:pt x="5221698" y="2398338"/>
                </a:lnTo>
                <a:lnTo>
                  <a:pt x="0" y="2398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778881" y="5128832"/>
            <a:ext cx="11241352" cy="160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64"/>
              </a:lnSpc>
            </a:pPr>
            <a:r>
              <a:rPr lang="en-US" sz="4617" b="1" i="1" spc="5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C</a:t>
            </a:r>
            <a:r>
              <a:rPr lang="en-US" sz="4617" b="1" spc="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ognitive </a:t>
            </a:r>
            <a:r>
              <a:rPr lang="en-US" sz="4617" b="1" i="1" spc="5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O</a:t>
            </a:r>
            <a:r>
              <a:rPr lang="en-US" sz="4617" b="1" spc="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bservation &amp; </a:t>
            </a:r>
            <a:r>
              <a:rPr lang="en-US" sz="4617" b="1" i="1" spc="5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R</a:t>
            </a:r>
            <a:r>
              <a:rPr lang="en-US" sz="4617" b="1" spc="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isk </a:t>
            </a:r>
            <a:r>
              <a:rPr lang="en-US" sz="4617" b="1" i="1" spc="5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T</a:t>
            </a:r>
            <a:r>
              <a:rPr lang="en-US" sz="4617" b="1" spc="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racking </a:t>
            </a:r>
            <a:r>
              <a:rPr lang="en-US" sz="4617" b="1" i="1" spc="5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E</a:t>
            </a:r>
            <a:r>
              <a:rPr lang="en-US" sz="4617" b="1" spc="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ngine for Exploratory </a:t>
            </a:r>
            <a:r>
              <a:rPr lang="en-US" sz="4617" b="1" i="1" spc="5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A</a:t>
            </a:r>
            <a:r>
              <a:rPr lang="en-US" sz="4617" b="1" spc="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nalysis using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2748" y="2396820"/>
            <a:ext cx="7411259" cy="74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4"/>
              </a:lnSpc>
            </a:pPr>
            <a:r>
              <a:rPr lang="en-US" sz="5694">
                <a:solidFill>
                  <a:srgbClr val="F9E2CF"/>
                </a:solidFill>
                <a:latin typeface="More Sugar"/>
                <a:ea typeface="More Sugar"/>
                <a:cs typeface="More Sugar"/>
                <a:sym typeface="More Sugar"/>
              </a:rPr>
              <a:t>Problem Statement</a:t>
            </a:r>
          </a:p>
        </p:txBody>
      </p:sp>
      <p:sp>
        <p:nvSpPr>
          <p:cNvPr id="3" name="Freeform 3"/>
          <p:cNvSpPr/>
          <p:nvPr/>
        </p:nvSpPr>
        <p:spPr>
          <a:xfrm>
            <a:off x="11090145" y="1906583"/>
            <a:ext cx="6687040" cy="4338217"/>
          </a:xfrm>
          <a:custGeom>
            <a:avLst/>
            <a:gdLst/>
            <a:ahLst/>
            <a:cxnLst/>
            <a:rect l="l" t="t" r="r" b="b"/>
            <a:pathLst>
              <a:path w="6687040" h="4338217">
                <a:moveTo>
                  <a:pt x="0" y="0"/>
                </a:moveTo>
                <a:lnTo>
                  <a:pt x="6687041" y="0"/>
                </a:lnTo>
                <a:lnTo>
                  <a:pt x="6687041" y="4338218"/>
                </a:lnTo>
                <a:lnTo>
                  <a:pt x="0" y="4338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49400" y="6916651"/>
            <a:ext cx="4038600" cy="3364204"/>
          </a:xfrm>
          <a:custGeom>
            <a:avLst/>
            <a:gdLst/>
            <a:ahLst/>
            <a:cxnLst/>
            <a:rect l="l" t="t" r="r" b="b"/>
            <a:pathLst>
              <a:path w="4221400" h="4136972">
                <a:moveTo>
                  <a:pt x="0" y="0"/>
                </a:moveTo>
                <a:lnTo>
                  <a:pt x="4221400" y="0"/>
                </a:lnTo>
                <a:lnTo>
                  <a:pt x="4221400" y="4136972"/>
                </a:lnTo>
                <a:lnTo>
                  <a:pt x="0" y="4136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084" t="-986" r="-5048" b="-2198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56166" y="-601534"/>
            <a:ext cx="5035683" cy="2312901"/>
          </a:xfrm>
          <a:custGeom>
            <a:avLst/>
            <a:gdLst/>
            <a:ahLst/>
            <a:cxnLst/>
            <a:rect l="l" t="t" r="r" b="b"/>
            <a:pathLst>
              <a:path w="5035683" h="2312901">
                <a:moveTo>
                  <a:pt x="0" y="0"/>
                </a:moveTo>
                <a:lnTo>
                  <a:pt x="5035683" y="0"/>
                </a:lnTo>
                <a:lnTo>
                  <a:pt x="5035683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6092840">
            <a:off x="-250060" y="6856317"/>
            <a:ext cx="3665226" cy="3411673"/>
          </a:xfrm>
          <a:custGeom>
            <a:avLst/>
            <a:gdLst/>
            <a:ahLst/>
            <a:cxnLst/>
            <a:rect l="l" t="t" r="r" b="b"/>
            <a:pathLst>
              <a:path w="6105575" h="5017673">
                <a:moveTo>
                  <a:pt x="0" y="0"/>
                </a:moveTo>
                <a:lnTo>
                  <a:pt x="6105576" y="0"/>
                </a:lnTo>
                <a:lnTo>
                  <a:pt x="6105576" y="5017673"/>
                </a:lnTo>
                <a:lnTo>
                  <a:pt x="0" y="5017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1579736">
            <a:off x="5285649" y="7326945"/>
            <a:ext cx="6113794" cy="2808080"/>
          </a:xfrm>
          <a:custGeom>
            <a:avLst/>
            <a:gdLst/>
            <a:ahLst/>
            <a:cxnLst/>
            <a:rect l="l" t="t" r="r" b="b"/>
            <a:pathLst>
              <a:path w="6113794" h="2808080">
                <a:moveTo>
                  <a:pt x="0" y="0"/>
                </a:moveTo>
                <a:lnTo>
                  <a:pt x="6113793" y="0"/>
                </a:lnTo>
                <a:lnTo>
                  <a:pt x="6113793" y="2808080"/>
                </a:lnTo>
                <a:lnTo>
                  <a:pt x="0" y="28080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1495" t="-29206" r="-1495" b="2920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39238" y="1458556"/>
            <a:ext cx="9525" cy="1178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989660" y="3441278"/>
            <a:ext cx="9491058" cy="431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8379" lvl="1" indent="-294189" algn="just">
              <a:lnSpc>
                <a:spcPts val="3815"/>
              </a:lnSpc>
              <a:buFont typeface="Arial"/>
              <a:buChar char="•"/>
            </a:pPr>
            <a:r>
              <a:rPr lang="en-US" sz="2725" b="1" i="1">
                <a:solidFill>
                  <a:srgbClr val="F9E2C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Neurological disorders are often detected at later stages.</a:t>
            </a:r>
          </a:p>
          <a:p>
            <a:pPr algn="just">
              <a:lnSpc>
                <a:spcPts val="3815"/>
              </a:lnSpc>
            </a:pPr>
            <a:endParaRPr lang="en-US" sz="2725" b="1" i="1">
              <a:solidFill>
                <a:srgbClr val="F9E2CF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  <a:p>
            <a:pPr marL="588379" lvl="1" indent="-294189" algn="just">
              <a:lnSpc>
                <a:spcPts val="3815"/>
              </a:lnSpc>
              <a:buFont typeface="Arial"/>
              <a:buChar char="•"/>
            </a:pPr>
            <a:r>
              <a:rPr lang="en-US" sz="2725" b="1" i="1">
                <a:solidFill>
                  <a:srgbClr val="F9E2C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Lifestyle and behavioral data are rarely used for early risk prediction.</a:t>
            </a:r>
          </a:p>
          <a:p>
            <a:pPr algn="just">
              <a:lnSpc>
                <a:spcPts val="3815"/>
              </a:lnSpc>
            </a:pPr>
            <a:endParaRPr lang="en-US" sz="2725" b="1" i="1">
              <a:solidFill>
                <a:srgbClr val="F9E2CF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  <a:p>
            <a:pPr marL="588379" lvl="1" indent="-294189" algn="just">
              <a:lnSpc>
                <a:spcPts val="3815"/>
              </a:lnSpc>
              <a:buFont typeface="Arial"/>
              <a:buChar char="•"/>
            </a:pPr>
            <a:r>
              <a:rPr lang="en-US" sz="2725" b="1" i="1">
                <a:solidFill>
                  <a:srgbClr val="F9E2C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Existing systems lack personalized, AI-driven neurological risk assessment.</a:t>
            </a:r>
          </a:p>
          <a:p>
            <a:pPr algn="r">
              <a:lnSpc>
                <a:spcPts val="3815"/>
              </a:lnSpc>
            </a:pPr>
            <a:endParaRPr lang="en-US" sz="2725" b="1" i="1">
              <a:solidFill>
                <a:srgbClr val="F9E2CF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50486" y="20593"/>
            <a:ext cx="2937514" cy="3035633"/>
          </a:xfrm>
          <a:custGeom>
            <a:avLst/>
            <a:gdLst/>
            <a:ahLst/>
            <a:cxnLst/>
            <a:rect l="l" t="t" r="r" b="b"/>
            <a:pathLst>
              <a:path w="2937514" h="3035633">
                <a:moveTo>
                  <a:pt x="0" y="0"/>
                </a:moveTo>
                <a:lnTo>
                  <a:pt x="2937514" y="0"/>
                </a:lnTo>
                <a:lnTo>
                  <a:pt x="2937514" y="3035633"/>
                </a:lnTo>
                <a:lnTo>
                  <a:pt x="0" y="303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24" r="-59291" b="492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61149" y="-128880"/>
            <a:ext cx="5035683" cy="2312901"/>
          </a:xfrm>
          <a:custGeom>
            <a:avLst/>
            <a:gdLst/>
            <a:ahLst/>
            <a:cxnLst/>
            <a:rect l="l" t="t" r="r" b="b"/>
            <a:pathLst>
              <a:path w="5035683" h="2312901">
                <a:moveTo>
                  <a:pt x="0" y="0"/>
                </a:moveTo>
                <a:lnTo>
                  <a:pt x="5035683" y="0"/>
                </a:lnTo>
                <a:lnTo>
                  <a:pt x="5035683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rot="10558077">
            <a:off x="5486261" y="7644201"/>
            <a:ext cx="6113794" cy="2808080"/>
          </a:xfrm>
          <a:custGeom>
            <a:avLst/>
            <a:gdLst/>
            <a:ahLst/>
            <a:cxnLst/>
            <a:rect l="l" t="t" r="r" b="b"/>
            <a:pathLst>
              <a:path w="6113794" h="2808080">
                <a:moveTo>
                  <a:pt x="0" y="0"/>
                </a:moveTo>
                <a:lnTo>
                  <a:pt x="6113794" y="0"/>
                </a:lnTo>
                <a:lnTo>
                  <a:pt x="6113794" y="2808080"/>
                </a:lnTo>
                <a:lnTo>
                  <a:pt x="0" y="2808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864654" y="3144878"/>
            <a:ext cx="3571505" cy="1560499"/>
            <a:chOff x="0" y="0"/>
            <a:chExt cx="940643" cy="4109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0643" cy="410996"/>
            </a:xfrm>
            <a:custGeom>
              <a:avLst/>
              <a:gdLst/>
              <a:ahLst/>
              <a:cxnLst/>
              <a:rect l="l" t="t" r="r" b="b"/>
              <a:pathLst>
                <a:path w="940643" h="410996">
                  <a:moveTo>
                    <a:pt x="0" y="0"/>
                  </a:moveTo>
                  <a:lnTo>
                    <a:pt x="940643" y="0"/>
                  </a:lnTo>
                  <a:lnTo>
                    <a:pt x="940643" y="410996"/>
                  </a:lnTo>
                  <a:lnTo>
                    <a:pt x="0" y="410996"/>
                  </a:lnTo>
                  <a:close/>
                </a:path>
              </a:pathLst>
            </a:custGeom>
            <a:solidFill>
              <a:srgbClr val="F0CE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40643" cy="44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36159" y="3551832"/>
            <a:ext cx="1556933" cy="746590"/>
            <a:chOff x="0" y="0"/>
            <a:chExt cx="1695007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5007" cy="812800"/>
            </a:xfrm>
            <a:custGeom>
              <a:avLst/>
              <a:gdLst/>
              <a:ahLst/>
              <a:cxnLst/>
              <a:rect l="l" t="t" r="r" b="b"/>
              <a:pathLst>
                <a:path w="1695007" h="812800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93092" y="3144878"/>
            <a:ext cx="3571505" cy="1560499"/>
            <a:chOff x="0" y="0"/>
            <a:chExt cx="940643" cy="4109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40643" cy="410996"/>
            </a:xfrm>
            <a:custGeom>
              <a:avLst/>
              <a:gdLst/>
              <a:ahLst/>
              <a:cxnLst/>
              <a:rect l="l" t="t" r="r" b="b"/>
              <a:pathLst>
                <a:path w="940643" h="410996">
                  <a:moveTo>
                    <a:pt x="0" y="0"/>
                  </a:moveTo>
                  <a:lnTo>
                    <a:pt x="940643" y="0"/>
                  </a:lnTo>
                  <a:lnTo>
                    <a:pt x="940643" y="410996"/>
                  </a:lnTo>
                  <a:lnTo>
                    <a:pt x="0" y="410996"/>
                  </a:lnTo>
                  <a:close/>
                </a:path>
              </a:pathLst>
            </a:custGeom>
            <a:solidFill>
              <a:srgbClr val="F0CEC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40643" cy="44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564597" y="3551832"/>
            <a:ext cx="1556933" cy="746590"/>
            <a:chOff x="0" y="0"/>
            <a:chExt cx="1695007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5007" cy="812800"/>
            </a:xfrm>
            <a:custGeom>
              <a:avLst/>
              <a:gdLst/>
              <a:ahLst/>
              <a:cxnLst/>
              <a:rect l="l" t="t" r="r" b="b"/>
              <a:pathLst>
                <a:path w="1695007" h="812800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121530" y="3144878"/>
            <a:ext cx="3571505" cy="1560499"/>
            <a:chOff x="0" y="0"/>
            <a:chExt cx="940643" cy="4109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40643" cy="410996"/>
            </a:xfrm>
            <a:custGeom>
              <a:avLst/>
              <a:gdLst/>
              <a:ahLst/>
              <a:cxnLst/>
              <a:rect l="l" t="t" r="r" b="b"/>
              <a:pathLst>
                <a:path w="940643" h="410996">
                  <a:moveTo>
                    <a:pt x="0" y="0"/>
                  </a:moveTo>
                  <a:lnTo>
                    <a:pt x="940643" y="0"/>
                  </a:lnTo>
                  <a:lnTo>
                    <a:pt x="940643" y="410996"/>
                  </a:lnTo>
                  <a:lnTo>
                    <a:pt x="0" y="410996"/>
                  </a:lnTo>
                  <a:close/>
                </a:path>
              </a:pathLst>
            </a:custGeom>
            <a:solidFill>
              <a:srgbClr val="F0CEC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40643" cy="44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15128816" y="5110549"/>
            <a:ext cx="1556933" cy="746590"/>
            <a:chOff x="0" y="0"/>
            <a:chExt cx="1695007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95007" cy="812800"/>
            </a:xfrm>
            <a:custGeom>
              <a:avLst/>
              <a:gdLst/>
              <a:ahLst/>
              <a:cxnLst/>
              <a:rect l="l" t="t" r="r" b="b"/>
              <a:pathLst>
                <a:path w="1695007" h="812800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972764" y="6237501"/>
            <a:ext cx="3571505" cy="1560499"/>
            <a:chOff x="0" y="0"/>
            <a:chExt cx="940643" cy="4109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40643" cy="410996"/>
            </a:xfrm>
            <a:custGeom>
              <a:avLst/>
              <a:gdLst/>
              <a:ahLst/>
              <a:cxnLst/>
              <a:rect l="l" t="t" r="r" b="b"/>
              <a:pathLst>
                <a:path w="940643" h="410996">
                  <a:moveTo>
                    <a:pt x="0" y="0"/>
                  </a:moveTo>
                  <a:lnTo>
                    <a:pt x="940643" y="0"/>
                  </a:lnTo>
                  <a:lnTo>
                    <a:pt x="940643" y="410996"/>
                  </a:lnTo>
                  <a:lnTo>
                    <a:pt x="0" y="410996"/>
                  </a:lnTo>
                  <a:close/>
                </a:path>
              </a:pathLst>
            </a:custGeom>
            <a:solidFill>
              <a:srgbClr val="F0CEC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40643" cy="44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10800000">
            <a:off x="12415831" y="6644456"/>
            <a:ext cx="1556933" cy="746590"/>
            <a:chOff x="0" y="0"/>
            <a:chExt cx="1695007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95007" cy="812800"/>
            </a:xfrm>
            <a:custGeom>
              <a:avLst/>
              <a:gdLst/>
              <a:ahLst/>
              <a:cxnLst/>
              <a:rect l="l" t="t" r="r" b="b"/>
              <a:pathLst>
                <a:path w="1695007" h="812800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844326" y="6304997"/>
            <a:ext cx="3571505" cy="1560499"/>
            <a:chOff x="0" y="0"/>
            <a:chExt cx="940643" cy="4109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40643" cy="410996"/>
            </a:xfrm>
            <a:custGeom>
              <a:avLst/>
              <a:gdLst/>
              <a:ahLst/>
              <a:cxnLst/>
              <a:rect l="l" t="t" r="r" b="b"/>
              <a:pathLst>
                <a:path w="940643" h="410996">
                  <a:moveTo>
                    <a:pt x="0" y="0"/>
                  </a:moveTo>
                  <a:lnTo>
                    <a:pt x="940643" y="0"/>
                  </a:lnTo>
                  <a:lnTo>
                    <a:pt x="940643" y="410996"/>
                  </a:lnTo>
                  <a:lnTo>
                    <a:pt x="0" y="410996"/>
                  </a:lnTo>
                  <a:close/>
                </a:path>
              </a:pathLst>
            </a:custGeom>
            <a:solidFill>
              <a:srgbClr val="F0CECE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940643" cy="44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rot="-10800000">
            <a:off x="7287393" y="6711951"/>
            <a:ext cx="1556933" cy="746590"/>
            <a:chOff x="0" y="0"/>
            <a:chExt cx="1695007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695007" cy="812800"/>
            </a:xfrm>
            <a:custGeom>
              <a:avLst/>
              <a:gdLst/>
              <a:ahLst/>
              <a:cxnLst/>
              <a:rect l="l" t="t" r="r" b="b"/>
              <a:pathLst>
                <a:path w="1695007" h="812800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660030" y="6304997"/>
            <a:ext cx="3571505" cy="1560499"/>
            <a:chOff x="0" y="0"/>
            <a:chExt cx="940643" cy="4109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40643" cy="410996"/>
            </a:xfrm>
            <a:custGeom>
              <a:avLst/>
              <a:gdLst/>
              <a:ahLst/>
              <a:cxnLst/>
              <a:rect l="l" t="t" r="r" b="b"/>
              <a:pathLst>
                <a:path w="940643" h="410996">
                  <a:moveTo>
                    <a:pt x="0" y="0"/>
                  </a:moveTo>
                  <a:lnTo>
                    <a:pt x="940643" y="0"/>
                  </a:lnTo>
                  <a:lnTo>
                    <a:pt x="940643" y="410996"/>
                  </a:lnTo>
                  <a:lnTo>
                    <a:pt x="0" y="410996"/>
                  </a:lnTo>
                  <a:close/>
                </a:path>
              </a:pathLst>
            </a:custGeom>
            <a:solidFill>
              <a:srgbClr val="F0CECE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940643" cy="44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243625" y="3122099"/>
            <a:ext cx="2305021" cy="1619277"/>
          </a:xfrm>
          <a:custGeom>
            <a:avLst/>
            <a:gdLst/>
            <a:ahLst/>
            <a:cxnLst/>
            <a:rect l="l" t="t" r="r" b="b"/>
            <a:pathLst>
              <a:path w="2305021" h="1619277">
                <a:moveTo>
                  <a:pt x="0" y="0"/>
                </a:moveTo>
                <a:lnTo>
                  <a:pt x="2305021" y="0"/>
                </a:lnTo>
                <a:lnTo>
                  <a:pt x="2305021" y="1619276"/>
                </a:lnTo>
                <a:lnTo>
                  <a:pt x="0" y="16192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9868144" y="1672536"/>
            <a:ext cx="5104090" cy="1178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Methodology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2454954" y="3581221"/>
            <a:ext cx="1409700" cy="675988"/>
            <a:chOff x="0" y="0"/>
            <a:chExt cx="1695007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695007" cy="812800"/>
            </a:xfrm>
            <a:custGeom>
              <a:avLst/>
              <a:gdLst/>
              <a:ahLst/>
              <a:cxnLst/>
              <a:rect l="l" t="t" r="r" b="b"/>
              <a:pathLst>
                <a:path w="1695007" h="812800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149933" y="6275608"/>
            <a:ext cx="2305021" cy="1619277"/>
          </a:xfrm>
          <a:custGeom>
            <a:avLst/>
            <a:gdLst/>
            <a:ahLst/>
            <a:cxnLst/>
            <a:rect l="l" t="t" r="r" b="b"/>
            <a:pathLst>
              <a:path w="2305021" h="1619277">
                <a:moveTo>
                  <a:pt x="0" y="0"/>
                </a:moveTo>
                <a:lnTo>
                  <a:pt x="2305021" y="0"/>
                </a:lnTo>
                <a:lnTo>
                  <a:pt x="2305021" y="1619277"/>
                </a:lnTo>
                <a:lnTo>
                  <a:pt x="0" y="16192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2453343" y="6782553"/>
            <a:ext cx="1206687" cy="578637"/>
            <a:chOff x="0" y="0"/>
            <a:chExt cx="1695007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695007" cy="812800"/>
            </a:xfrm>
            <a:custGeom>
              <a:avLst/>
              <a:gdLst/>
              <a:ahLst/>
              <a:cxnLst/>
              <a:rect l="l" t="t" r="r" b="b"/>
              <a:pathLst>
                <a:path w="1695007" h="812800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72460" y="3549297"/>
            <a:ext cx="1828585" cy="623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37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START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283754" y="3286281"/>
            <a:ext cx="2561051" cy="121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8"/>
              </a:lnSpc>
            </a:pPr>
            <a:r>
              <a:rPr lang="en-US" sz="23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Input</a:t>
            </a:r>
          </a:p>
          <a:p>
            <a:pPr algn="just">
              <a:lnSpc>
                <a:spcPts val="3228"/>
              </a:lnSpc>
            </a:pPr>
            <a:r>
              <a:rPr lang="en-US" sz="23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(Mood, Sleep, Diet, Activity)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583642" y="3286281"/>
            <a:ext cx="2561051" cy="121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Processing</a:t>
            </a:r>
          </a:p>
          <a:p>
            <a:pPr algn="l">
              <a:lnSpc>
                <a:spcPts val="3228"/>
              </a:lnSpc>
            </a:pPr>
            <a:r>
              <a:rPr lang="en-US" sz="23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(Preprocessing &amp; Scoring)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448526" y="6452545"/>
            <a:ext cx="2561051" cy="121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Risk Prediction</a:t>
            </a:r>
          </a:p>
          <a:p>
            <a:pPr algn="l">
              <a:lnSpc>
                <a:spcPts val="3228"/>
              </a:lnSpc>
            </a:pPr>
            <a:r>
              <a:rPr lang="en-US" sz="23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(Binary Classification)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448526" y="3292426"/>
            <a:ext cx="2917513" cy="121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Extraction</a:t>
            </a:r>
          </a:p>
          <a:p>
            <a:pPr algn="l">
              <a:lnSpc>
                <a:spcPts val="3228"/>
              </a:lnSpc>
            </a:pPr>
            <a:r>
              <a:rPr lang="en-US" sz="23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(Behavioral Scores)</a:t>
            </a:r>
          </a:p>
          <a:p>
            <a:pPr algn="just">
              <a:lnSpc>
                <a:spcPts val="3228"/>
              </a:lnSpc>
            </a:pPr>
            <a:endParaRPr lang="en-US" sz="230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9349553" y="6439171"/>
            <a:ext cx="2561051" cy="121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Assessment</a:t>
            </a:r>
          </a:p>
          <a:p>
            <a:pPr algn="l">
              <a:lnSpc>
                <a:spcPts val="3228"/>
              </a:lnSpc>
            </a:pPr>
            <a:r>
              <a:rPr lang="en-US" sz="23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(Low  / High)</a:t>
            </a:r>
          </a:p>
          <a:p>
            <a:pPr algn="just">
              <a:lnSpc>
                <a:spcPts val="3228"/>
              </a:lnSpc>
            </a:pPr>
            <a:endParaRPr lang="en-US" sz="230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4221517" y="6416265"/>
            <a:ext cx="2827751" cy="162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8"/>
              </a:lnSpc>
            </a:pPr>
            <a:r>
              <a:rPr lang="en-US" sz="23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Insights</a:t>
            </a:r>
          </a:p>
          <a:p>
            <a:pPr algn="just">
              <a:lnSpc>
                <a:spcPts val="3228"/>
              </a:lnSpc>
            </a:pPr>
            <a:r>
              <a:rPr lang="en-US" sz="23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(Personalized Recommendations)</a:t>
            </a:r>
          </a:p>
          <a:p>
            <a:pPr algn="just">
              <a:lnSpc>
                <a:spcPts val="3228"/>
              </a:lnSpc>
            </a:pPr>
            <a:endParaRPr lang="en-US" sz="230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790562" y="6707079"/>
            <a:ext cx="1241865" cy="623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37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3310" y="1657933"/>
            <a:ext cx="6545941" cy="904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F9E2CF"/>
                </a:solidFill>
                <a:latin typeface="More Sugar"/>
                <a:ea typeface="More Sugar"/>
                <a:cs typeface="More Sugar"/>
                <a:sym typeface="More Sugar"/>
              </a:rPr>
              <a:t>System Design</a:t>
            </a:r>
          </a:p>
        </p:txBody>
      </p:sp>
      <p:sp>
        <p:nvSpPr>
          <p:cNvPr id="3" name="Freeform 3"/>
          <p:cNvSpPr/>
          <p:nvPr/>
        </p:nvSpPr>
        <p:spPr>
          <a:xfrm>
            <a:off x="13791652" y="7877520"/>
            <a:ext cx="4474225" cy="2409480"/>
          </a:xfrm>
          <a:custGeom>
            <a:avLst/>
            <a:gdLst/>
            <a:ahLst/>
            <a:cxnLst/>
            <a:rect l="l" t="t" r="r" b="b"/>
            <a:pathLst>
              <a:path w="4946321" h="2409480">
                <a:moveTo>
                  <a:pt x="0" y="0"/>
                </a:moveTo>
                <a:lnTo>
                  <a:pt x="4946321" y="0"/>
                </a:lnTo>
                <a:lnTo>
                  <a:pt x="4946321" y="2409480"/>
                </a:lnTo>
                <a:lnTo>
                  <a:pt x="0" y="2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r="-28358" b="-5463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969047" y="0"/>
            <a:ext cx="4318953" cy="2312901"/>
          </a:xfrm>
          <a:custGeom>
            <a:avLst/>
            <a:gdLst/>
            <a:ahLst/>
            <a:cxnLst/>
            <a:rect l="l" t="t" r="r" b="b"/>
            <a:pathLst>
              <a:path w="5035683" h="2312901">
                <a:moveTo>
                  <a:pt x="0" y="0"/>
                </a:moveTo>
                <a:lnTo>
                  <a:pt x="5035683" y="0"/>
                </a:lnTo>
                <a:lnTo>
                  <a:pt x="5035683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6595"/>
            </a:stretch>
          </a:blipFill>
        </p:spPr>
      </p:sp>
      <p:sp>
        <p:nvSpPr>
          <p:cNvPr id="5" name="Freeform 5"/>
          <p:cNvSpPr/>
          <p:nvPr/>
        </p:nvSpPr>
        <p:spPr>
          <a:xfrm rot="16767758">
            <a:off x="-300746" y="-133828"/>
            <a:ext cx="2129624" cy="1966774"/>
          </a:xfrm>
          <a:custGeom>
            <a:avLst/>
            <a:gdLst/>
            <a:ahLst/>
            <a:cxnLst/>
            <a:rect l="l" t="t" r="r" b="b"/>
            <a:pathLst>
              <a:path w="3034742" h="2494006">
                <a:moveTo>
                  <a:pt x="0" y="0"/>
                </a:moveTo>
                <a:lnTo>
                  <a:pt x="3034742" y="0"/>
                </a:lnTo>
                <a:lnTo>
                  <a:pt x="3034742" y="2494006"/>
                </a:lnTo>
                <a:lnTo>
                  <a:pt x="0" y="24940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11033" r="1209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rot="10479998">
            <a:off x="3241634" y="8504653"/>
            <a:ext cx="6113794" cy="1537178"/>
          </a:xfrm>
          <a:custGeom>
            <a:avLst/>
            <a:gdLst/>
            <a:ahLst/>
            <a:cxnLst/>
            <a:rect l="l" t="t" r="r" b="b"/>
            <a:pathLst>
              <a:path w="6113794" h="2808080">
                <a:moveTo>
                  <a:pt x="0" y="0"/>
                </a:moveTo>
                <a:lnTo>
                  <a:pt x="6113794" y="0"/>
                </a:lnTo>
                <a:lnTo>
                  <a:pt x="6113794" y="2808080"/>
                </a:lnTo>
                <a:lnTo>
                  <a:pt x="0" y="2808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3241" t="-93549" r="-3241" b="1087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03310" y="2733724"/>
            <a:ext cx="9726424" cy="6990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4023" lvl="1" indent="-287011" algn="just">
              <a:lnSpc>
                <a:spcPts val="3722"/>
              </a:lnSpc>
              <a:buFont typeface="Arial"/>
              <a:buChar char="•"/>
            </a:pPr>
            <a:r>
              <a:rPr lang="en-US" sz="2658" i="1" dirty="0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High-Level Architecture: Client-Server Model.</a:t>
            </a:r>
          </a:p>
          <a:p>
            <a:pPr marL="574023" lvl="1" indent="-287011" algn="just">
              <a:lnSpc>
                <a:spcPts val="3722"/>
              </a:lnSpc>
              <a:buFont typeface="Arial"/>
              <a:buChar char="•"/>
            </a:pPr>
            <a:r>
              <a:rPr lang="en-US" sz="2658" i="1" dirty="0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Frontend: HTML5, CSS3, and Jinja2 templates for a responsive user dashboard.</a:t>
            </a:r>
          </a:p>
          <a:p>
            <a:pPr marL="574023" lvl="1" indent="-287011" algn="just">
              <a:lnSpc>
                <a:spcPts val="3722"/>
              </a:lnSpc>
              <a:buFont typeface="Arial"/>
              <a:buChar char="•"/>
            </a:pPr>
            <a:r>
              <a:rPr lang="en-US" sz="2658" i="1" dirty="0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Backend: Flask (Python) handling the request-response cycle and model inference.</a:t>
            </a:r>
          </a:p>
          <a:p>
            <a:pPr marL="574023" lvl="1" indent="-287011" algn="just">
              <a:lnSpc>
                <a:spcPts val="3722"/>
              </a:lnSpc>
              <a:buFont typeface="Arial"/>
              <a:buChar char="•"/>
            </a:pPr>
            <a:r>
              <a:rPr lang="en-US" sz="2658" i="1" dirty="0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Design Diagrams:</a:t>
            </a:r>
          </a:p>
          <a:p>
            <a:pPr marL="574023" lvl="1" indent="-287011" algn="just">
              <a:lnSpc>
                <a:spcPts val="3722"/>
              </a:lnSpc>
              <a:buFont typeface="Arial"/>
              <a:buChar char="•"/>
            </a:pPr>
            <a:r>
              <a:rPr lang="en-US" sz="2658" i="1" dirty="0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ER Diagram: Models the logical entities: User, Input Metrics, and Prediction results.</a:t>
            </a:r>
          </a:p>
          <a:p>
            <a:pPr marL="574023" lvl="1" indent="-287011" algn="just">
              <a:lnSpc>
                <a:spcPts val="3722"/>
              </a:lnSpc>
              <a:buFont typeface="Arial"/>
              <a:buChar char="•"/>
            </a:pPr>
            <a:r>
              <a:rPr lang="en-US" sz="2658" i="1" dirty="0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Data Flow Diagram (Level 1): Illustrates the movement from raw user input to the processed AI prediction.</a:t>
            </a:r>
          </a:p>
          <a:p>
            <a:pPr marL="574023" lvl="1" indent="-287011" algn="just">
              <a:lnSpc>
                <a:spcPts val="3722"/>
              </a:lnSpc>
              <a:buFont typeface="Arial"/>
              <a:buChar char="•"/>
            </a:pPr>
            <a:r>
              <a:rPr lang="en-US" sz="2658" i="1" dirty="0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Input Requirements: Validates four key parameters: Mood Score (1-10), Sleep Hours (0-15), Activity Rating (1-10), and Diet Quality.</a:t>
            </a:r>
          </a:p>
          <a:p>
            <a:pPr marL="574023" lvl="1" indent="-287011" algn="just">
              <a:lnSpc>
                <a:spcPts val="3722"/>
              </a:lnSpc>
              <a:buFont typeface="Arial"/>
              <a:buChar char="•"/>
            </a:pPr>
            <a:endParaRPr lang="en-US" sz="2658" i="1" dirty="0">
              <a:solidFill>
                <a:srgbClr val="F9E2CF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  <a:p>
            <a:pPr algn="just">
              <a:lnSpc>
                <a:spcPts val="3722"/>
              </a:lnSpc>
            </a:pPr>
            <a:endParaRPr lang="en-US" sz="2658" i="1" dirty="0">
              <a:solidFill>
                <a:srgbClr val="F9E2CF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1054" y="668811"/>
            <a:ext cx="10517519" cy="904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41"/>
              </a:lnSpc>
            </a:pPr>
            <a:r>
              <a:rPr lang="en-US" sz="6846">
                <a:solidFill>
                  <a:srgbClr val="F9E2CF"/>
                </a:solidFill>
                <a:latin typeface="More Sugar"/>
                <a:ea typeface="More Sugar"/>
                <a:cs typeface="More Sugar"/>
                <a:sym typeface="More Sugar"/>
              </a:rPr>
              <a:t>Implementation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4668442" y="6771921"/>
            <a:ext cx="3619558" cy="3547167"/>
          </a:xfrm>
          <a:custGeom>
            <a:avLst/>
            <a:gdLst/>
            <a:ahLst/>
            <a:cxnLst/>
            <a:rect l="l" t="t" r="r" b="b"/>
            <a:pathLst>
              <a:path w="3619558" h="3547167">
                <a:moveTo>
                  <a:pt x="0" y="0"/>
                </a:moveTo>
                <a:lnTo>
                  <a:pt x="3619558" y="0"/>
                </a:lnTo>
                <a:lnTo>
                  <a:pt x="3619558" y="3547167"/>
                </a:lnTo>
                <a:lnTo>
                  <a:pt x="0" y="3547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54529">
            <a:off x="13045193" y="417209"/>
            <a:ext cx="5035683" cy="2312901"/>
          </a:xfrm>
          <a:custGeom>
            <a:avLst/>
            <a:gdLst/>
            <a:ahLst/>
            <a:cxnLst/>
            <a:rect l="l" t="t" r="r" b="b"/>
            <a:pathLst>
              <a:path w="5035683" h="2312901">
                <a:moveTo>
                  <a:pt x="0" y="0"/>
                </a:moveTo>
                <a:lnTo>
                  <a:pt x="5035683" y="0"/>
                </a:lnTo>
                <a:lnTo>
                  <a:pt x="5035683" y="2312902"/>
                </a:lnTo>
                <a:lnTo>
                  <a:pt x="0" y="2312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6092840">
            <a:off x="-853820" y="5014219"/>
            <a:ext cx="6105575" cy="5017673"/>
          </a:xfrm>
          <a:custGeom>
            <a:avLst/>
            <a:gdLst/>
            <a:ahLst/>
            <a:cxnLst/>
            <a:rect l="l" t="t" r="r" b="b"/>
            <a:pathLst>
              <a:path w="6105575" h="5017673">
                <a:moveTo>
                  <a:pt x="0" y="0"/>
                </a:moveTo>
                <a:lnTo>
                  <a:pt x="6105575" y="0"/>
                </a:lnTo>
                <a:lnTo>
                  <a:pt x="6105575" y="5017673"/>
                </a:lnTo>
                <a:lnTo>
                  <a:pt x="0" y="5017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753776" y="1809447"/>
            <a:ext cx="8780448" cy="8214044"/>
          </a:xfrm>
          <a:custGeom>
            <a:avLst/>
            <a:gdLst/>
            <a:ahLst/>
            <a:cxnLst/>
            <a:rect l="l" t="t" r="r" b="b"/>
            <a:pathLst>
              <a:path w="8780448" h="8214044">
                <a:moveTo>
                  <a:pt x="0" y="0"/>
                </a:moveTo>
                <a:lnTo>
                  <a:pt x="8780448" y="0"/>
                </a:lnTo>
                <a:lnTo>
                  <a:pt x="8780448" y="8214044"/>
                </a:lnTo>
                <a:lnTo>
                  <a:pt x="0" y="82140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447" b="-3447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837420" y="5364480"/>
            <a:ext cx="188595" cy="184785"/>
            <a:chOff x="0" y="0"/>
            <a:chExt cx="251460" cy="246380"/>
          </a:xfrm>
        </p:grpSpPr>
        <p:sp>
          <p:nvSpPr>
            <p:cNvPr id="8" name="Freeform 8"/>
            <p:cNvSpPr/>
            <p:nvPr/>
          </p:nvSpPr>
          <p:spPr>
            <a:xfrm>
              <a:off x="50604" y="50746"/>
              <a:ext cx="148786" cy="147163"/>
            </a:xfrm>
            <a:custGeom>
              <a:avLst/>
              <a:gdLst/>
              <a:ahLst/>
              <a:cxnLst/>
              <a:rect l="l" t="t" r="r" b="b"/>
              <a:pathLst>
                <a:path w="148786" h="147163">
                  <a:moveTo>
                    <a:pt x="148786" y="52124"/>
                  </a:moveTo>
                  <a:cubicBezTo>
                    <a:pt x="128466" y="133404"/>
                    <a:pt x="119576" y="139754"/>
                    <a:pt x="106876" y="143564"/>
                  </a:cubicBezTo>
                  <a:cubicBezTo>
                    <a:pt x="89096" y="149914"/>
                    <a:pt x="53536" y="147374"/>
                    <a:pt x="35756" y="139754"/>
                  </a:cubicBezTo>
                  <a:cubicBezTo>
                    <a:pt x="24326" y="134674"/>
                    <a:pt x="16706" y="124514"/>
                    <a:pt x="10356" y="114354"/>
                  </a:cubicBezTo>
                  <a:cubicBezTo>
                    <a:pt x="4006" y="104194"/>
                    <a:pt x="-1074" y="92764"/>
                    <a:pt x="196" y="78794"/>
                  </a:cubicBezTo>
                  <a:cubicBezTo>
                    <a:pt x="1466" y="61014"/>
                    <a:pt x="15436" y="27994"/>
                    <a:pt x="29406" y="14024"/>
                  </a:cubicBezTo>
                  <a:cubicBezTo>
                    <a:pt x="38296" y="5134"/>
                    <a:pt x="48456" y="54"/>
                    <a:pt x="62426" y="54"/>
                  </a:cubicBezTo>
                  <a:cubicBezTo>
                    <a:pt x="80206" y="-1216"/>
                    <a:pt x="129736" y="20374"/>
                    <a:pt x="129736" y="2037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783128" y="5354003"/>
            <a:ext cx="274320" cy="375285"/>
            <a:chOff x="0" y="0"/>
            <a:chExt cx="365760" cy="500380"/>
          </a:xfrm>
        </p:grpSpPr>
        <p:sp>
          <p:nvSpPr>
            <p:cNvPr id="10" name="Freeform 10"/>
            <p:cNvSpPr/>
            <p:nvPr/>
          </p:nvSpPr>
          <p:spPr>
            <a:xfrm>
              <a:off x="43333" y="49910"/>
              <a:ext cx="271702" cy="402885"/>
            </a:xfrm>
            <a:custGeom>
              <a:avLst/>
              <a:gdLst/>
              <a:ahLst/>
              <a:cxnLst/>
              <a:rect l="l" t="t" r="r" b="b"/>
              <a:pathLst>
                <a:path w="271702" h="402885">
                  <a:moveTo>
                    <a:pt x="257657" y="121540"/>
                  </a:moveTo>
                  <a:cubicBezTo>
                    <a:pt x="170027" y="300610"/>
                    <a:pt x="176377" y="339980"/>
                    <a:pt x="162407" y="362840"/>
                  </a:cubicBezTo>
                  <a:cubicBezTo>
                    <a:pt x="152247" y="380620"/>
                    <a:pt x="134467" y="393320"/>
                    <a:pt x="116687" y="398400"/>
                  </a:cubicBezTo>
                  <a:cubicBezTo>
                    <a:pt x="100177" y="404750"/>
                    <a:pt x="76047" y="404750"/>
                    <a:pt x="59537" y="395860"/>
                  </a:cubicBezTo>
                  <a:cubicBezTo>
                    <a:pt x="40487" y="385700"/>
                    <a:pt x="22707" y="365380"/>
                    <a:pt x="12547" y="336170"/>
                  </a:cubicBezTo>
                  <a:cubicBezTo>
                    <a:pt x="-6503" y="284100"/>
                    <a:pt x="-153" y="140590"/>
                    <a:pt x="7467" y="89790"/>
                  </a:cubicBezTo>
                  <a:cubicBezTo>
                    <a:pt x="11277" y="65660"/>
                    <a:pt x="12547" y="51690"/>
                    <a:pt x="25247" y="37720"/>
                  </a:cubicBezTo>
                  <a:cubicBezTo>
                    <a:pt x="39217" y="22480"/>
                    <a:pt x="74777" y="5970"/>
                    <a:pt x="96367" y="4700"/>
                  </a:cubicBezTo>
                  <a:cubicBezTo>
                    <a:pt x="114147" y="4700"/>
                    <a:pt x="133197" y="13590"/>
                    <a:pt x="147167" y="25020"/>
                  </a:cubicBezTo>
                  <a:cubicBezTo>
                    <a:pt x="159867" y="36450"/>
                    <a:pt x="172567" y="52960"/>
                    <a:pt x="173837" y="70740"/>
                  </a:cubicBezTo>
                  <a:cubicBezTo>
                    <a:pt x="177647" y="92330"/>
                    <a:pt x="168757" y="130430"/>
                    <a:pt x="153517" y="146940"/>
                  </a:cubicBezTo>
                  <a:cubicBezTo>
                    <a:pt x="137007" y="164720"/>
                    <a:pt x="100177" y="174880"/>
                    <a:pt x="78587" y="172340"/>
                  </a:cubicBezTo>
                  <a:cubicBezTo>
                    <a:pt x="60807" y="171070"/>
                    <a:pt x="43027" y="159640"/>
                    <a:pt x="30327" y="146940"/>
                  </a:cubicBezTo>
                  <a:cubicBezTo>
                    <a:pt x="18897" y="135510"/>
                    <a:pt x="8737" y="116460"/>
                    <a:pt x="8737" y="98680"/>
                  </a:cubicBezTo>
                  <a:cubicBezTo>
                    <a:pt x="7467" y="77090"/>
                    <a:pt x="20167" y="40260"/>
                    <a:pt x="37947" y="25020"/>
                  </a:cubicBezTo>
                  <a:cubicBezTo>
                    <a:pt x="55727" y="9780"/>
                    <a:pt x="92557" y="3430"/>
                    <a:pt x="114147" y="8510"/>
                  </a:cubicBezTo>
                  <a:cubicBezTo>
                    <a:pt x="131927" y="11050"/>
                    <a:pt x="148437" y="25020"/>
                    <a:pt x="158597" y="37720"/>
                  </a:cubicBezTo>
                  <a:cubicBezTo>
                    <a:pt x="170027" y="51690"/>
                    <a:pt x="172567" y="65660"/>
                    <a:pt x="176377" y="89790"/>
                  </a:cubicBezTo>
                  <a:cubicBezTo>
                    <a:pt x="183997" y="141860"/>
                    <a:pt x="187807" y="295530"/>
                    <a:pt x="170027" y="345060"/>
                  </a:cubicBezTo>
                  <a:cubicBezTo>
                    <a:pt x="162407" y="367920"/>
                    <a:pt x="152247" y="381890"/>
                    <a:pt x="134467" y="390780"/>
                  </a:cubicBezTo>
                  <a:cubicBezTo>
                    <a:pt x="116687" y="400940"/>
                    <a:pt x="79857" y="404750"/>
                    <a:pt x="59537" y="395860"/>
                  </a:cubicBezTo>
                  <a:cubicBezTo>
                    <a:pt x="39217" y="386970"/>
                    <a:pt x="18897" y="359030"/>
                    <a:pt x="12547" y="336170"/>
                  </a:cubicBezTo>
                  <a:cubicBezTo>
                    <a:pt x="4927" y="313310"/>
                    <a:pt x="10007" y="289180"/>
                    <a:pt x="17627" y="258700"/>
                  </a:cubicBezTo>
                  <a:cubicBezTo>
                    <a:pt x="29057" y="211710"/>
                    <a:pt x="69697" y="122810"/>
                    <a:pt x="92557" y="83440"/>
                  </a:cubicBezTo>
                  <a:cubicBezTo>
                    <a:pt x="106527" y="59310"/>
                    <a:pt x="115417" y="45340"/>
                    <a:pt x="129387" y="31370"/>
                  </a:cubicBezTo>
                  <a:cubicBezTo>
                    <a:pt x="143357" y="18670"/>
                    <a:pt x="158597" y="3430"/>
                    <a:pt x="176377" y="890"/>
                  </a:cubicBezTo>
                  <a:cubicBezTo>
                    <a:pt x="196697" y="-2920"/>
                    <a:pt x="229717" y="5970"/>
                    <a:pt x="246227" y="18670"/>
                  </a:cubicBezTo>
                  <a:cubicBezTo>
                    <a:pt x="260197" y="30100"/>
                    <a:pt x="269087" y="51690"/>
                    <a:pt x="271627" y="68200"/>
                  </a:cubicBezTo>
                  <a:cubicBezTo>
                    <a:pt x="272897" y="85980"/>
                    <a:pt x="257657" y="121540"/>
                    <a:pt x="257657" y="12154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732645" y="5274945"/>
            <a:ext cx="367665" cy="564832"/>
            <a:chOff x="0" y="0"/>
            <a:chExt cx="490220" cy="753110"/>
          </a:xfrm>
        </p:grpSpPr>
        <p:sp>
          <p:nvSpPr>
            <p:cNvPr id="12" name="Freeform 12"/>
            <p:cNvSpPr/>
            <p:nvPr/>
          </p:nvSpPr>
          <p:spPr>
            <a:xfrm>
              <a:off x="41696" y="50613"/>
              <a:ext cx="398029" cy="652597"/>
            </a:xfrm>
            <a:custGeom>
              <a:avLst/>
              <a:gdLst/>
              <a:ahLst/>
              <a:cxnLst/>
              <a:rect l="l" t="t" r="r" b="b"/>
              <a:pathLst>
                <a:path w="398029" h="652597">
                  <a:moveTo>
                    <a:pt x="96734" y="429447"/>
                  </a:moveTo>
                  <a:cubicBezTo>
                    <a:pt x="101814" y="198307"/>
                    <a:pt x="128484" y="184337"/>
                    <a:pt x="148804" y="179257"/>
                  </a:cubicBezTo>
                  <a:cubicBezTo>
                    <a:pt x="166584" y="175447"/>
                    <a:pt x="189444" y="183067"/>
                    <a:pt x="203414" y="191957"/>
                  </a:cubicBezTo>
                  <a:cubicBezTo>
                    <a:pt x="214844" y="198307"/>
                    <a:pt x="221194" y="204657"/>
                    <a:pt x="230084" y="218627"/>
                  </a:cubicBezTo>
                  <a:cubicBezTo>
                    <a:pt x="245324" y="244027"/>
                    <a:pt x="263104" y="297367"/>
                    <a:pt x="275804" y="341817"/>
                  </a:cubicBezTo>
                  <a:cubicBezTo>
                    <a:pt x="289774" y="391347"/>
                    <a:pt x="306284" y="459927"/>
                    <a:pt x="307554" y="500567"/>
                  </a:cubicBezTo>
                  <a:cubicBezTo>
                    <a:pt x="308824" y="527237"/>
                    <a:pt x="306284" y="548827"/>
                    <a:pt x="298664" y="565337"/>
                  </a:cubicBezTo>
                  <a:cubicBezTo>
                    <a:pt x="292314" y="579307"/>
                    <a:pt x="283424" y="588197"/>
                    <a:pt x="271994" y="595817"/>
                  </a:cubicBezTo>
                  <a:cubicBezTo>
                    <a:pt x="261834" y="603437"/>
                    <a:pt x="247864" y="608517"/>
                    <a:pt x="235164" y="609787"/>
                  </a:cubicBezTo>
                  <a:cubicBezTo>
                    <a:pt x="222464" y="612327"/>
                    <a:pt x="207224" y="611057"/>
                    <a:pt x="194524" y="605977"/>
                  </a:cubicBezTo>
                  <a:cubicBezTo>
                    <a:pt x="179284" y="598357"/>
                    <a:pt x="161504" y="589467"/>
                    <a:pt x="150074" y="566607"/>
                  </a:cubicBezTo>
                  <a:cubicBezTo>
                    <a:pt x="124674" y="514537"/>
                    <a:pt x="117054" y="324037"/>
                    <a:pt x="125944" y="256727"/>
                  </a:cubicBezTo>
                  <a:cubicBezTo>
                    <a:pt x="131024" y="223707"/>
                    <a:pt x="137374" y="212277"/>
                    <a:pt x="151344" y="184337"/>
                  </a:cubicBezTo>
                  <a:cubicBezTo>
                    <a:pt x="172934" y="139887"/>
                    <a:pt x="221194" y="45907"/>
                    <a:pt x="256754" y="19237"/>
                  </a:cubicBezTo>
                  <a:cubicBezTo>
                    <a:pt x="275804" y="3997"/>
                    <a:pt x="296124" y="-1083"/>
                    <a:pt x="315174" y="187"/>
                  </a:cubicBezTo>
                  <a:cubicBezTo>
                    <a:pt x="335494" y="1457"/>
                    <a:pt x="358354" y="14157"/>
                    <a:pt x="372324" y="26857"/>
                  </a:cubicBezTo>
                  <a:cubicBezTo>
                    <a:pt x="382484" y="35747"/>
                    <a:pt x="388834" y="49717"/>
                    <a:pt x="393914" y="62417"/>
                  </a:cubicBezTo>
                  <a:cubicBezTo>
                    <a:pt x="397724" y="75117"/>
                    <a:pt x="400264" y="86547"/>
                    <a:pt x="395184" y="103057"/>
                  </a:cubicBezTo>
                  <a:cubicBezTo>
                    <a:pt x="388834" y="134807"/>
                    <a:pt x="338034" y="186877"/>
                    <a:pt x="324064" y="228787"/>
                  </a:cubicBezTo>
                  <a:cubicBezTo>
                    <a:pt x="312634" y="265617"/>
                    <a:pt x="335494" y="316417"/>
                    <a:pt x="312634" y="339277"/>
                  </a:cubicBezTo>
                  <a:cubicBezTo>
                    <a:pt x="284694" y="365947"/>
                    <a:pt x="185634" y="374837"/>
                    <a:pt x="143724" y="351977"/>
                  </a:cubicBezTo>
                  <a:cubicBezTo>
                    <a:pt x="104354" y="330387"/>
                    <a:pt x="56094" y="226247"/>
                    <a:pt x="67524" y="208467"/>
                  </a:cubicBezTo>
                  <a:cubicBezTo>
                    <a:pt x="77684" y="194497"/>
                    <a:pt x="142454" y="208467"/>
                    <a:pt x="166584" y="223707"/>
                  </a:cubicBezTo>
                  <a:cubicBezTo>
                    <a:pt x="189444" y="238947"/>
                    <a:pt x="204684" y="268157"/>
                    <a:pt x="212304" y="297367"/>
                  </a:cubicBezTo>
                  <a:cubicBezTo>
                    <a:pt x="222464" y="332927"/>
                    <a:pt x="219924" y="393887"/>
                    <a:pt x="209764" y="426907"/>
                  </a:cubicBezTo>
                  <a:cubicBezTo>
                    <a:pt x="202144" y="449767"/>
                    <a:pt x="189444" y="467547"/>
                    <a:pt x="172934" y="478977"/>
                  </a:cubicBezTo>
                  <a:cubicBezTo>
                    <a:pt x="157694" y="490407"/>
                    <a:pt x="129754" y="495487"/>
                    <a:pt x="111974" y="494217"/>
                  </a:cubicBezTo>
                  <a:cubicBezTo>
                    <a:pt x="96734" y="492947"/>
                    <a:pt x="84034" y="486597"/>
                    <a:pt x="72604" y="478977"/>
                  </a:cubicBezTo>
                  <a:cubicBezTo>
                    <a:pt x="61174" y="471357"/>
                    <a:pt x="51014" y="463737"/>
                    <a:pt x="43394" y="447227"/>
                  </a:cubicBezTo>
                  <a:cubicBezTo>
                    <a:pt x="28154" y="409127"/>
                    <a:pt x="5294" y="264347"/>
                    <a:pt x="33234" y="237677"/>
                  </a:cubicBezTo>
                  <a:cubicBezTo>
                    <a:pt x="53554" y="218627"/>
                    <a:pt x="117054" y="232597"/>
                    <a:pt x="143724" y="247837"/>
                  </a:cubicBezTo>
                  <a:cubicBezTo>
                    <a:pt x="165314" y="260537"/>
                    <a:pt x="176744" y="288477"/>
                    <a:pt x="186904" y="311337"/>
                  </a:cubicBezTo>
                  <a:cubicBezTo>
                    <a:pt x="198334" y="334197"/>
                    <a:pt x="193254" y="357057"/>
                    <a:pt x="205954" y="384997"/>
                  </a:cubicBezTo>
                  <a:cubicBezTo>
                    <a:pt x="226274" y="431987"/>
                    <a:pt x="307554" y="513267"/>
                    <a:pt x="315174" y="555177"/>
                  </a:cubicBezTo>
                  <a:cubicBezTo>
                    <a:pt x="318984" y="578037"/>
                    <a:pt x="310094" y="595817"/>
                    <a:pt x="299934" y="611057"/>
                  </a:cubicBezTo>
                  <a:cubicBezTo>
                    <a:pt x="289774" y="626297"/>
                    <a:pt x="271994" y="641537"/>
                    <a:pt x="255484" y="647887"/>
                  </a:cubicBezTo>
                  <a:cubicBezTo>
                    <a:pt x="237704" y="652967"/>
                    <a:pt x="214844" y="654237"/>
                    <a:pt x="197064" y="647887"/>
                  </a:cubicBezTo>
                  <a:cubicBezTo>
                    <a:pt x="179284" y="642807"/>
                    <a:pt x="160234" y="628837"/>
                    <a:pt x="150074" y="613597"/>
                  </a:cubicBezTo>
                  <a:cubicBezTo>
                    <a:pt x="139914" y="599627"/>
                    <a:pt x="133564" y="576767"/>
                    <a:pt x="133564" y="558987"/>
                  </a:cubicBezTo>
                  <a:cubicBezTo>
                    <a:pt x="134834" y="539937"/>
                    <a:pt x="141184" y="518347"/>
                    <a:pt x="153884" y="504377"/>
                  </a:cubicBezTo>
                  <a:cubicBezTo>
                    <a:pt x="170394" y="487867"/>
                    <a:pt x="207224" y="468817"/>
                    <a:pt x="232624" y="471357"/>
                  </a:cubicBezTo>
                  <a:cubicBezTo>
                    <a:pt x="258024" y="473897"/>
                    <a:pt x="291044" y="498027"/>
                    <a:pt x="303744" y="518347"/>
                  </a:cubicBezTo>
                  <a:cubicBezTo>
                    <a:pt x="313904" y="534857"/>
                    <a:pt x="316444" y="556447"/>
                    <a:pt x="313904" y="575497"/>
                  </a:cubicBezTo>
                  <a:cubicBezTo>
                    <a:pt x="311364" y="593277"/>
                    <a:pt x="301204" y="613597"/>
                    <a:pt x="288504" y="626297"/>
                  </a:cubicBezTo>
                  <a:cubicBezTo>
                    <a:pt x="274534" y="638997"/>
                    <a:pt x="254214" y="649157"/>
                    <a:pt x="235164" y="651697"/>
                  </a:cubicBezTo>
                  <a:cubicBezTo>
                    <a:pt x="217384" y="654237"/>
                    <a:pt x="194524" y="651697"/>
                    <a:pt x="179284" y="640267"/>
                  </a:cubicBezTo>
                  <a:cubicBezTo>
                    <a:pt x="160234" y="627567"/>
                    <a:pt x="129754" y="572957"/>
                    <a:pt x="133564" y="567877"/>
                  </a:cubicBezTo>
                  <a:cubicBezTo>
                    <a:pt x="137374" y="565337"/>
                    <a:pt x="178014" y="597087"/>
                    <a:pt x="179284" y="595817"/>
                  </a:cubicBezTo>
                  <a:cubicBezTo>
                    <a:pt x="179284" y="595817"/>
                    <a:pt x="134834" y="570417"/>
                    <a:pt x="115784" y="551367"/>
                  </a:cubicBezTo>
                  <a:cubicBezTo>
                    <a:pt x="92924" y="529777"/>
                    <a:pt x="70064" y="501837"/>
                    <a:pt x="53554" y="472627"/>
                  </a:cubicBezTo>
                  <a:cubicBezTo>
                    <a:pt x="34504" y="440877"/>
                    <a:pt x="16724" y="406587"/>
                    <a:pt x="9104" y="365947"/>
                  </a:cubicBezTo>
                  <a:cubicBezTo>
                    <a:pt x="-1056" y="317687"/>
                    <a:pt x="-4866" y="241487"/>
                    <a:pt x="9104" y="197037"/>
                  </a:cubicBezTo>
                  <a:cubicBezTo>
                    <a:pt x="20534" y="164017"/>
                    <a:pt x="40854" y="132267"/>
                    <a:pt x="67524" y="118297"/>
                  </a:cubicBezTo>
                  <a:cubicBezTo>
                    <a:pt x="94194" y="104327"/>
                    <a:pt x="143724" y="97977"/>
                    <a:pt x="167854" y="113217"/>
                  </a:cubicBezTo>
                  <a:cubicBezTo>
                    <a:pt x="195794" y="132267"/>
                    <a:pt x="204684" y="191957"/>
                    <a:pt x="212304" y="237677"/>
                  </a:cubicBezTo>
                  <a:cubicBezTo>
                    <a:pt x="221194" y="288477"/>
                    <a:pt x="219924" y="364677"/>
                    <a:pt x="212304" y="405317"/>
                  </a:cubicBezTo>
                  <a:cubicBezTo>
                    <a:pt x="207224" y="430717"/>
                    <a:pt x="200874" y="449767"/>
                    <a:pt x="189444" y="465007"/>
                  </a:cubicBezTo>
                  <a:cubicBezTo>
                    <a:pt x="180554" y="476437"/>
                    <a:pt x="167854" y="484057"/>
                    <a:pt x="155154" y="489137"/>
                  </a:cubicBezTo>
                  <a:cubicBezTo>
                    <a:pt x="141184" y="494217"/>
                    <a:pt x="125944" y="495487"/>
                    <a:pt x="111974" y="494217"/>
                  </a:cubicBezTo>
                  <a:cubicBezTo>
                    <a:pt x="98004" y="492947"/>
                    <a:pt x="84034" y="487867"/>
                    <a:pt x="72604" y="478977"/>
                  </a:cubicBezTo>
                  <a:cubicBezTo>
                    <a:pt x="58634" y="467547"/>
                    <a:pt x="44664" y="452307"/>
                    <a:pt x="35774" y="426907"/>
                  </a:cubicBezTo>
                  <a:cubicBezTo>
                    <a:pt x="20534" y="374837"/>
                    <a:pt x="15454" y="230057"/>
                    <a:pt x="35774" y="171637"/>
                  </a:cubicBezTo>
                  <a:cubicBezTo>
                    <a:pt x="47204" y="134807"/>
                    <a:pt x="67524" y="100517"/>
                    <a:pt x="95464" y="90357"/>
                  </a:cubicBezTo>
                  <a:cubicBezTo>
                    <a:pt x="123404" y="80197"/>
                    <a:pt x="175474" y="92897"/>
                    <a:pt x="207224" y="117027"/>
                  </a:cubicBezTo>
                  <a:cubicBezTo>
                    <a:pt x="246594" y="147507"/>
                    <a:pt x="310094" y="264347"/>
                    <a:pt x="294854" y="285937"/>
                  </a:cubicBezTo>
                  <a:cubicBezTo>
                    <a:pt x="280884" y="304987"/>
                    <a:pt x="166584" y="287207"/>
                    <a:pt x="150074" y="261807"/>
                  </a:cubicBezTo>
                  <a:cubicBezTo>
                    <a:pt x="136104" y="242757"/>
                    <a:pt x="155154" y="204657"/>
                    <a:pt x="167854" y="171637"/>
                  </a:cubicBezTo>
                  <a:cubicBezTo>
                    <a:pt x="188174" y="123377"/>
                    <a:pt x="242784" y="29397"/>
                    <a:pt x="274534" y="7807"/>
                  </a:cubicBezTo>
                  <a:cubicBezTo>
                    <a:pt x="289774" y="-1083"/>
                    <a:pt x="302474" y="187"/>
                    <a:pt x="315174" y="187"/>
                  </a:cubicBezTo>
                  <a:cubicBezTo>
                    <a:pt x="329144" y="1457"/>
                    <a:pt x="344384" y="6537"/>
                    <a:pt x="355814" y="12887"/>
                  </a:cubicBezTo>
                  <a:cubicBezTo>
                    <a:pt x="367244" y="20507"/>
                    <a:pt x="377404" y="30667"/>
                    <a:pt x="385024" y="43367"/>
                  </a:cubicBezTo>
                  <a:cubicBezTo>
                    <a:pt x="391374" y="54797"/>
                    <a:pt x="396454" y="68767"/>
                    <a:pt x="397724" y="82737"/>
                  </a:cubicBezTo>
                  <a:cubicBezTo>
                    <a:pt x="397724" y="96707"/>
                    <a:pt x="396454" y="106867"/>
                    <a:pt x="388834" y="123377"/>
                  </a:cubicBezTo>
                  <a:cubicBezTo>
                    <a:pt x="376134" y="160207"/>
                    <a:pt x="312634" y="219897"/>
                    <a:pt x="297394" y="280857"/>
                  </a:cubicBezTo>
                  <a:cubicBezTo>
                    <a:pt x="280884" y="350707"/>
                    <a:pt x="316444" y="473897"/>
                    <a:pt x="308824" y="527237"/>
                  </a:cubicBezTo>
                  <a:cubicBezTo>
                    <a:pt x="303744" y="552637"/>
                    <a:pt x="297394" y="569147"/>
                    <a:pt x="287234" y="583117"/>
                  </a:cubicBezTo>
                  <a:cubicBezTo>
                    <a:pt x="278344" y="593277"/>
                    <a:pt x="268184" y="600897"/>
                    <a:pt x="254214" y="605977"/>
                  </a:cubicBezTo>
                  <a:cubicBezTo>
                    <a:pt x="237704" y="611057"/>
                    <a:pt x="211034" y="611057"/>
                    <a:pt x="194524" y="605977"/>
                  </a:cubicBezTo>
                  <a:cubicBezTo>
                    <a:pt x="181824" y="602167"/>
                    <a:pt x="170394" y="593277"/>
                    <a:pt x="161504" y="583117"/>
                  </a:cubicBezTo>
                  <a:cubicBezTo>
                    <a:pt x="152614" y="572957"/>
                    <a:pt x="148804" y="565337"/>
                    <a:pt x="142454" y="547557"/>
                  </a:cubicBezTo>
                  <a:cubicBezTo>
                    <a:pt x="131024" y="506917"/>
                    <a:pt x="134834" y="384997"/>
                    <a:pt x="120864" y="329117"/>
                  </a:cubicBezTo>
                  <a:cubicBezTo>
                    <a:pt x="111974" y="292287"/>
                    <a:pt x="80224" y="266887"/>
                    <a:pt x="84034" y="241487"/>
                  </a:cubicBezTo>
                  <a:cubicBezTo>
                    <a:pt x="87844" y="219897"/>
                    <a:pt x="110704" y="193227"/>
                    <a:pt x="131024" y="184337"/>
                  </a:cubicBezTo>
                  <a:cubicBezTo>
                    <a:pt x="151344" y="176717"/>
                    <a:pt x="185634" y="181797"/>
                    <a:pt x="203414" y="191957"/>
                  </a:cubicBezTo>
                  <a:cubicBezTo>
                    <a:pt x="219924" y="200847"/>
                    <a:pt x="228814" y="213547"/>
                    <a:pt x="236434" y="236407"/>
                  </a:cubicBezTo>
                  <a:cubicBezTo>
                    <a:pt x="252944" y="279587"/>
                    <a:pt x="260564" y="410397"/>
                    <a:pt x="245324" y="452307"/>
                  </a:cubicBezTo>
                  <a:cubicBezTo>
                    <a:pt x="237704" y="472627"/>
                    <a:pt x="221194" y="484057"/>
                    <a:pt x="207224" y="491677"/>
                  </a:cubicBezTo>
                  <a:cubicBezTo>
                    <a:pt x="195794" y="498027"/>
                    <a:pt x="184364" y="501837"/>
                    <a:pt x="171664" y="500567"/>
                  </a:cubicBezTo>
                  <a:cubicBezTo>
                    <a:pt x="155154" y="498027"/>
                    <a:pt x="132294" y="490407"/>
                    <a:pt x="120864" y="478977"/>
                  </a:cubicBezTo>
                  <a:cubicBezTo>
                    <a:pt x="108164" y="467547"/>
                    <a:pt x="96734" y="429447"/>
                    <a:pt x="96734" y="429447"/>
                  </a:cubicBezTo>
                </a:path>
              </a:pathLst>
            </a:custGeom>
            <a:solidFill>
              <a:srgbClr val="BFDE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198168" y="6202680"/>
            <a:ext cx="671512" cy="301942"/>
            <a:chOff x="0" y="0"/>
            <a:chExt cx="895350" cy="402590"/>
          </a:xfrm>
        </p:grpSpPr>
        <p:sp>
          <p:nvSpPr>
            <p:cNvPr id="14" name="Freeform 14"/>
            <p:cNvSpPr/>
            <p:nvPr/>
          </p:nvSpPr>
          <p:spPr>
            <a:xfrm>
              <a:off x="44540" y="48909"/>
              <a:ext cx="800673" cy="306598"/>
            </a:xfrm>
            <a:custGeom>
              <a:avLst/>
              <a:gdLst/>
              <a:ahLst/>
              <a:cxnLst/>
              <a:rect l="l" t="t" r="r" b="b"/>
              <a:pathLst>
                <a:path w="800673" h="306598">
                  <a:moveTo>
                    <a:pt x="173900" y="60311"/>
                  </a:moveTo>
                  <a:cubicBezTo>
                    <a:pt x="468540" y="45071"/>
                    <a:pt x="497750" y="42531"/>
                    <a:pt x="520610" y="52691"/>
                  </a:cubicBezTo>
                  <a:cubicBezTo>
                    <a:pt x="538390" y="62851"/>
                    <a:pt x="552360" y="79361"/>
                    <a:pt x="558710" y="97141"/>
                  </a:cubicBezTo>
                  <a:cubicBezTo>
                    <a:pt x="565060" y="113651"/>
                    <a:pt x="565060" y="137781"/>
                    <a:pt x="558710" y="154291"/>
                  </a:cubicBezTo>
                  <a:cubicBezTo>
                    <a:pt x="552360" y="172071"/>
                    <a:pt x="534580" y="189851"/>
                    <a:pt x="520610" y="198741"/>
                  </a:cubicBezTo>
                  <a:cubicBezTo>
                    <a:pt x="509180" y="205091"/>
                    <a:pt x="501560" y="206361"/>
                    <a:pt x="482510" y="207631"/>
                  </a:cubicBezTo>
                  <a:cubicBezTo>
                    <a:pt x="424090" y="211441"/>
                    <a:pt x="171360" y="217791"/>
                    <a:pt x="131990" y="173341"/>
                  </a:cubicBezTo>
                  <a:cubicBezTo>
                    <a:pt x="110400" y="147941"/>
                    <a:pt x="123100" y="75551"/>
                    <a:pt x="137070" y="69201"/>
                  </a:cubicBezTo>
                  <a:cubicBezTo>
                    <a:pt x="151040" y="62851"/>
                    <a:pt x="180250" y="112381"/>
                    <a:pt x="213270" y="123811"/>
                  </a:cubicBezTo>
                  <a:cubicBezTo>
                    <a:pt x="256450" y="137781"/>
                    <a:pt x="333920" y="139051"/>
                    <a:pt x="380910" y="126351"/>
                  </a:cubicBezTo>
                  <a:cubicBezTo>
                    <a:pt x="417740" y="117461"/>
                    <a:pt x="444410" y="85711"/>
                    <a:pt x="474890" y="71741"/>
                  </a:cubicBezTo>
                  <a:cubicBezTo>
                    <a:pt x="501560" y="61581"/>
                    <a:pt x="520610" y="53961"/>
                    <a:pt x="553630" y="50151"/>
                  </a:cubicBezTo>
                  <a:cubicBezTo>
                    <a:pt x="604430" y="43801"/>
                    <a:pt x="712380" y="39991"/>
                    <a:pt x="751750" y="59041"/>
                  </a:cubicBezTo>
                  <a:cubicBezTo>
                    <a:pt x="774610" y="69201"/>
                    <a:pt x="787310" y="89521"/>
                    <a:pt x="794930" y="106031"/>
                  </a:cubicBezTo>
                  <a:cubicBezTo>
                    <a:pt x="801280" y="120001"/>
                    <a:pt x="801280" y="135241"/>
                    <a:pt x="800010" y="149211"/>
                  </a:cubicBezTo>
                  <a:cubicBezTo>
                    <a:pt x="797470" y="163181"/>
                    <a:pt x="792390" y="178421"/>
                    <a:pt x="784770" y="189851"/>
                  </a:cubicBezTo>
                  <a:cubicBezTo>
                    <a:pt x="777150" y="201281"/>
                    <a:pt x="770800" y="210171"/>
                    <a:pt x="751750" y="217791"/>
                  </a:cubicBezTo>
                  <a:cubicBezTo>
                    <a:pt x="702220" y="238111"/>
                    <a:pt x="490130" y="238111"/>
                    <a:pt x="427900" y="229221"/>
                  </a:cubicBezTo>
                  <a:cubicBezTo>
                    <a:pt x="402500" y="225411"/>
                    <a:pt x="388530" y="221601"/>
                    <a:pt x="373290" y="210171"/>
                  </a:cubicBezTo>
                  <a:cubicBezTo>
                    <a:pt x="359320" y="198741"/>
                    <a:pt x="345350" y="182231"/>
                    <a:pt x="341540" y="163181"/>
                  </a:cubicBezTo>
                  <a:cubicBezTo>
                    <a:pt x="336460" y="139051"/>
                    <a:pt x="345350" y="98411"/>
                    <a:pt x="359320" y="79361"/>
                  </a:cubicBezTo>
                  <a:cubicBezTo>
                    <a:pt x="370750" y="64121"/>
                    <a:pt x="391070" y="53961"/>
                    <a:pt x="408850" y="50151"/>
                  </a:cubicBezTo>
                  <a:cubicBezTo>
                    <a:pt x="426630" y="46341"/>
                    <a:pt x="449490" y="46341"/>
                    <a:pt x="466000" y="56501"/>
                  </a:cubicBezTo>
                  <a:cubicBezTo>
                    <a:pt x="486320" y="67931"/>
                    <a:pt x="511720" y="100951"/>
                    <a:pt x="516800" y="123811"/>
                  </a:cubicBezTo>
                  <a:cubicBezTo>
                    <a:pt x="521880" y="142861"/>
                    <a:pt x="516800" y="164451"/>
                    <a:pt x="507910" y="180961"/>
                  </a:cubicBezTo>
                  <a:cubicBezTo>
                    <a:pt x="499020" y="197471"/>
                    <a:pt x="483780" y="213981"/>
                    <a:pt x="466000" y="220331"/>
                  </a:cubicBezTo>
                  <a:cubicBezTo>
                    <a:pt x="444410" y="227951"/>
                    <a:pt x="402500" y="226681"/>
                    <a:pt x="382180" y="215251"/>
                  </a:cubicBezTo>
                  <a:cubicBezTo>
                    <a:pt x="364400" y="207631"/>
                    <a:pt x="350430" y="188581"/>
                    <a:pt x="344080" y="172071"/>
                  </a:cubicBezTo>
                  <a:cubicBezTo>
                    <a:pt x="337730" y="155561"/>
                    <a:pt x="333920" y="132701"/>
                    <a:pt x="341540" y="113651"/>
                  </a:cubicBezTo>
                  <a:cubicBezTo>
                    <a:pt x="349160" y="92061"/>
                    <a:pt x="368210" y="66661"/>
                    <a:pt x="399960" y="52691"/>
                  </a:cubicBezTo>
                  <a:cubicBezTo>
                    <a:pt x="459650" y="26021"/>
                    <a:pt x="655230" y="42531"/>
                    <a:pt x="711110" y="48881"/>
                  </a:cubicBezTo>
                  <a:cubicBezTo>
                    <a:pt x="731430" y="51421"/>
                    <a:pt x="740320" y="52691"/>
                    <a:pt x="751750" y="59041"/>
                  </a:cubicBezTo>
                  <a:cubicBezTo>
                    <a:pt x="764450" y="65391"/>
                    <a:pt x="777150" y="74281"/>
                    <a:pt x="784770" y="86981"/>
                  </a:cubicBezTo>
                  <a:cubicBezTo>
                    <a:pt x="793660" y="103491"/>
                    <a:pt x="801280" y="131431"/>
                    <a:pt x="800010" y="149211"/>
                  </a:cubicBezTo>
                  <a:cubicBezTo>
                    <a:pt x="798740" y="164451"/>
                    <a:pt x="792390" y="178421"/>
                    <a:pt x="784770" y="189851"/>
                  </a:cubicBezTo>
                  <a:cubicBezTo>
                    <a:pt x="777150" y="201281"/>
                    <a:pt x="764450" y="211441"/>
                    <a:pt x="751750" y="217791"/>
                  </a:cubicBezTo>
                  <a:cubicBezTo>
                    <a:pt x="740320" y="224141"/>
                    <a:pt x="728890" y="226681"/>
                    <a:pt x="711110" y="227951"/>
                  </a:cubicBezTo>
                  <a:cubicBezTo>
                    <a:pt x="678090" y="230491"/>
                    <a:pt x="609510" y="208901"/>
                    <a:pt x="570140" y="217791"/>
                  </a:cubicBezTo>
                  <a:cubicBezTo>
                    <a:pt x="538390" y="225411"/>
                    <a:pt x="516800" y="252081"/>
                    <a:pt x="487590" y="266051"/>
                  </a:cubicBezTo>
                  <a:cubicBezTo>
                    <a:pt x="454570" y="280021"/>
                    <a:pt x="420280" y="296531"/>
                    <a:pt x="380910" y="302881"/>
                  </a:cubicBezTo>
                  <a:cubicBezTo>
                    <a:pt x="330110" y="310501"/>
                    <a:pt x="253910" y="305421"/>
                    <a:pt x="206920" y="296531"/>
                  </a:cubicBezTo>
                  <a:cubicBezTo>
                    <a:pt x="172630" y="290181"/>
                    <a:pt x="148500" y="280021"/>
                    <a:pt x="121830" y="266051"/>
                  </a:cubicBezTo>
                  <a:cubicBezTo>
                    <a:pt x="93890" y="253351"/>
                    <a:pt x="62140" y="236841"/>
                    <a:pt x="44360" y="215251"/>
                  </a:cubicBezTo>
                  <a:cubicBezTo>
                    <a:pt x="27850" y="194931"/>
                    <a:pt x="18960" y="168261"/>
                    <a:pt x="12610" y="141591"/>
                  </a:cubicBezTo>
                  <a:cubicBezTo>
                    <a:pt x="4990" y="112381"/>
                    <a:pt x="-7710" y="69201"/>
                    <a:pt x="6260" y="46341"/>
                  </a:cubicBezTo>
                  <a:cubicBezTo>
                    <a:pt x="21500" y="22211"/>
                    <a:pt x="76110" y="8241"/>
                    <a:pt x="107860" y="1891"/>
                  </a:cubicBezTo>
                  <a:cubicBezTo>
                    <a:pt x="135800" y="-3189"/>
                    <a:pt x="153580" y="3161"/>
                    <a:pt x="190410" y="6971"/>
                  </a:cubicBezTo>
                  <a:cubicBezTo>
                    <a:pt x="260260" y="12051"/>
                    <a:pt x="444410" y="24751"/>
                    <a:pt x="501560" y="46341"/>
                  </a:cubicBezTo>
                  <a:cubicBezTo>
                    <a:pt x="526960" y="55231"/>
                    <a:pt x="539660" y="62851"/>
                    <a:pt x="549820" y="79361"/>
                  </a:cubicBezTo>
                  <a:cubicBezTo>
                    <a:pt x="561250" y="97141"/>
                    <a:pt x="566330" y="133971"/>
                    <a:pt x="558710" y="154291"/>
                  </a:cubicBezTo>
                  <a:cubicBezTo>
                    <a:pt x="551090" y="175881"/>
                    <a:pt x="532040" y="193661"/>
                    <a:pt x="501560" y="205091"/>
                  </a:cubicBezTo>
                  <a:cubicBezTo>
                    <a:pt x="439330" y="230491"/>
                    <a:pt x="239940" y="231761"/>
                    <a:pt x="173900" y="216521"/>
                  </a:cubicBezTo>
                  <a:cubicBezTo>
                    <a:pt x="143420" y="208901"/>
                    <a:pt x="123100" y="198741"/>
                    <a:pt x="110400" y="182231"/>
                  </a:cubicBezTo>
                  <a:cubicBezTo>
                    <a:pt x="98970" y="168261"/>
                    <a:pt x="95160" y="146671"/>
                    <a:pt x="96430" y="128891"/>
                  </a:cubicBezTo>
                  <a:cubicBezTo>
                    <a:pt x="98970" y="112381"/>
                    <a:pt x="110400" y="92061"/>
                    <a:pt x="123100" y="80631"/>
                  </a:cubicBezTo>
                  <a:cubicBezTo>
                    <a:pt x="135800" y="69201"/>
                    <a:pt x="175170" y="60311"/>
                    <a:pt x="175170" y="60311"/>
                  </a:cubicBezTo>
                </a:path>
              </a:pathLst>
            </a:custGeom>
            <a:solidFill>
              <a:srgbClr val="BFDE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618220" y="6556057"/>
            <a:ext cx="576262" cy="282892"/>
            <a:chOff x="0" y="0"/>
            <a:chExt cx="768350" cy="377190"/>
          </a:xfrm>
        </p:grpSpPr>
        <p:sp>
          <p:nvSpPr>
            <p:cNvPr id="16" name="Freeform 16"/>
            <p:cNvSpPr/>
            <p:nvPr/>
          </p:nvSpPr>
          <p:spPr>
            <a:xfrm>
              <a:off x="50712" y="50800"/>
              <a:ext cx="666231" cy="277984"/>
            </a:xfrm>
            <a:custGeom>
              <a:avLst/>
              <a:gdLst/>
              <a:ahLst/>
              <a:cxnLst/>
              <a:rect l="l" t="t" r="r" b="b"/>
              <a:pathLst>
                <a:path w="666231" h="277984">
                  <a:moveTo>
                    <a:pt x="77558" y="19050"/>
                  </a:moveTo>
                  <a:cubicBezTo>
                    <a:pt x="462368" y="10160"/>
                    <a:pt x="480148" y="0"/>
                    <a:pt x="510628" y="0"/>
                  </a:cubicBezTo>
                  <a:cubicBezTo>
                    <a:pt x="544918" y="0"/>
                    <a:pt x="594448" y="1270"/>
                    <a:pt x="621118" y="15240"/>
                  </a:cubicBezTo>
                  <a:cubicBezTo>
                    <a:pt x="640168" y="25400"/>
                    <a:pt x="654138" y="43180"/>
                    <a:pt x="660488" y="60960"/>
                  </a:cubicBezTo>
                  <a:cubicBezTo>
                    <a:pt x="668108" y="78740"/>
                    <a:pt x="665568" y="105410"/>
                    <a:pt x="660488" y="121920"/>
                  </a:cubicBezTo>
                  <a:cubicBezTo>
                    <a:pt x="656678" y="134620"/>
                    <a:pt x="651598" y="144780"/>
                    <a:pt x="637628" y="154940"/>
                  </a:cubicBezTo>
                  <a:cubicBezTo>
                    <a:pt x="612228" y="175260"/>
                    <a:pt x="558888" y="198120"/>
                    <a:pt x="503008" y="207010"/>
                  </a:cubicBezTo>
                  <a:cubicBezTo>
                    <a:pt x="417918" y="220980"/>
                    <a:pt x="219798" y="231140"/>
                    <a:pt x="171538" y="193040"/>
                  </a:cubicBezTo>
                  <a:cubicBezTo>
                    <a:pt x="147408" y="173990"/>
                    <a:pt x="135978" y="128270"/>
                    <a:pt x="147408" y="107950"/>
                  </a:cubicBezTo>
                  <a:cubicBezTo>
                    <a:pt x="163918" y="81280"/>
                    <a:pt x="245198" y="77470"/>
                    <a:pt x="304888" y="69850"/>
                  </a:cubicBezTo>
                  <a:cubicBezTo>
                    <a:pt x="382358" y="62230"/>
                    <a:pt x="524598" y="55880"/>
                    <a:pt x="575398" y="73660"/>
                  </a:cubicBezTo>
                  <a:cubicBezTo>
                    <a:pt x="599528" y="82550"/>
                    <a:pt x="612228" y="93980"/>
                    <a:pt x="622388" y="109220"/>
                  </a:cubicBezTo>
                  <a:cubicBezTo>
                    <a:pt x="632548" y="124460"/>
                    <a:pt x="638898" y="147320"/>
                    <a:pt x="637628" y="165100"/>
                  </a:cubicBezTo>
                  <a:cubicBezTo>
                    <a:pt x="636358" y="182880"/>
                    <a:pt x="630008" y="205740"/>
                    <a:pt x="616038" y="218440"/>
                  </a:cubicBezTo>
                  <a:cubicBezTo>
                    <a:pt x="599528" y="234950"/>
                    <a:pt x="560158" y="251460"/>
                    <a:pt x="537298" y="250190"/>
                  </a:cubicBezTo>
                  <a:cubicBezTo>
                    <a:pt x="518248" y="250190"/>
                    <a:pt x="497928" y="238760"/>
                    <a:pt x="483958" y="226060"/>
                  </a:cubicBezTo>
                  <a:cubicBezTo>
                    <a:pt x="471258" y="213360"/>
                    <a:pt x="458558" y="194310"/>
                    <a:pt x="457288" y="175260"/>
                  </a:cubicBezTo>
                  <a:cubicBezTo>
                    <a:pt x="456018" y="151130"/>
                    <a:pt x="468718" y="111760"/>
                    <a:pt x="483958" y="93980"/>
                  </a:cubicBezTo>
                  <a:cubicBezTo>
                    <a:pt x="497928" y="80010"/>
                    <a:pt x="519518" y="72390"/>
                    <a:pt x="537298" y="69850"/>
                  </a:cubicBezTo>
                  <a:cubicBezTo>
                    <a:pt x="555078" y="67310"/>
                    <a:pt x="577938" y="71120"/>
                    <a:pt x="593178" y="82550"/>
                  </a:cubicBezTo>
                  <a:cubicBezTo>
                    <a:pt x="613498" y="96520"/>
                    <a:pt x="635088" y="132080"/>
                    <a:pt x="637628" y="154940"/>
                  </a:cubicBezTo>
                  <a:cubicBezTo>
                    <a:pt x="640168" y="173990"/>
                    <a:pt x="632548" y="195580"/>
                    <a:pt x="622388" y="210820"/>
                  </a:cubicBezTo>
                  <a:cubicBezTo>
                    <a:pt x="612228" y="226060"/>
                    <a:pt x="598258" y="238760"/>
                    <a:pt x="575398" y="246380"/>
                  </a:cubicBezTo>
                  <a:cubicBezTo>
                    <a:pt x="533488" y="260350"/>
                    <a:pt x="440778" y="245110"/>
                    <a:pt x="372198" y="250190"/>
                  </a:cubicBezTo>
                  <a:cubicBezTo>
                    <a:pt x="304888" y="255270"/>
                    <a:pt x="222338" y="273050"/>
                    <a:pt x="168998" y="275590"/>
                  </a:cubicBezTo>
                  <a:cubicBezTo>
                    <a:pt x="137248" y="276860"/>
                    <a:pt x="114388" y="281940"/>
                    <a:pt x="90258" y="271780"/>
                  </a:cubicBezTo>
                  <a:cubicBezTo>
                    <a:pt x="63588" y="260350"/>
                    <a:pt x="30568" y="233680"/>
                    <a:pt x="19138" y="207010"/>
                  </a:cubicBezTo>
                  <a:cubicBezTo>
                    <a:pt x="6438" y="180340"/>
                    <a:pt x="88" y="138430"/>
                    <a:pt x="16598" y="110490"/>
                  </a:cubicBezTo>
                  <a:cubicBezTo>
                    <a:pt x="38188" y="72390"/>
                    <a:pt x="114388" y="35560"/>
                    <a:pt x="175348" y="20320"/>
                  </a:cubicBezTo>
                  <a:cubicBezTo>
                    <a:pt x="246468" y="3810"/>
                    <a:pt x="363308" y="26670"/>
                    <a:pt x="421728" y="35560"/>
                  </a:cubicBezTo>
                  <a:cubicBezTo>
                    <a:pt x="454748" y="40640"/>
                    <a:pt x="473798" y="57150"/>
                    <a:pt x="499198" y="53340"/>
                  </a:cubicBezTo>
                  <a:cubicBezTo>
                    <a:pt x="525868" y="49530"/>
                    <a:pt x="557618" y="8890"/>
                    <a:pt x="580478" y="6350"/>
                  </a:cubicBezTo>
                  <a:cubicBezTo>
                    <a:pt x="595718" y="3810"/>
                    <a:pt x="608418" y="8890"/>
                    <a:pt x="621118" y="15240"/>
                  </a:cubicBezTo>
                  <a:cubicBezTo>
                    <a:pt x="635088" y="24130"/>
                    <a:pt x="654138" y="45720"/>
                    <a:pt x="660488" y="60960"/>
                  </a:cubicBezTo>
                  <a:cubicBezTo>
                    <a:pt x="666838" y="73660"/>
                    <a:pt x="666838" y="88900"/>
                    <a:pt x="665568" y="101600"/>
                  </a:cubicBezTo>
                  <a:cubicBezTo>
                    <a:pt x="664298" y="114300"/>
                    <a:pt x="660488" y="128270"/>
                    <a:pt x="651598" y="139700"/>
                  </a:cubicBezTo>
                  <a:cubicBezTo>
                    <a:pt x="640168" y="153670"/>
                    <a:pt x="622388" y="168910"/>
                    <a:pt x="602068" y="173990"/>
                  </a:cubicBezTo>
                  <a:cubicBezTo>
                    <a:pt x="575398" y="180340"/>
                    <a:pt x="533488" y="161290"/>
                    <a:pt x="501738" y="162560"/>
                  </a:cubicBezTo>
                  <a:cubicBezTo>
                    <a:pt x="473798" y="163830"/>
                    <a:pt x="459828" y="176530"/>
                    <a:pt x="422998" y="180340"/>
                  </a:cubicBezTo>
                  <a:cubicBezTo>
                    <a:pt x="349338" y="186690"/>
                    <a:pt x="141058" y="186690"/>
                    <a:pt x="77558" y="175260"/>
                  </a:cubicBezTo>
                  <a:cubicBezTo>
                    <a:pt x="52158" y="170180"/>
                    <a:pt x="38188" y="166370"/>
                    <a:pt x="25488" y="154940"/>
                  </a:cubicBezTo>
                  <a:cubicBezTo>
                    <a:pt x="12788" y="143510"/>
                    <a:pt x="1358" y="124460"/>
                    <a:pt x="88" y="106680"/>
                  </a:cubicBezTo>
                  <a:cubicBezTo>
                    <a:pt x="-1182" y="85090"/>
                    <a:pt x="11518" y="53340"/>
                    <a:pt x="25488" y="38100"/>
                  </a:cubicBezTo>
                  <a:cubicBezTo>
                    <a:pt x="38188" y="25400"/>
                    <a:pt x="77558" y="19050"/>
                    <a:pt x="77558" y="19050"/>
                  </a:cubicBezTo>
                </a:path>
              </a:pathLst>
            </a:custGeom>
            <a:solidFill>
              <a:srgbClr val="BFDEF3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8328967" y="6246575"/>
            <a:ext cx="489069" cy="16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sz="9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serialize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70975" y="6604037"/>
            <a:ext cx="470752" cy="16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sz="9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sigmoid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55604" y="1930320"/>
            <a:ext cx="9324929" cy="904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F9E2CF"/>
                </a:solidFill>
                <a:latin typeface="More Sugar"/>
                <a:ea typeface="More Sugar"/>
                <a:cs typeface="More Sugar"/>
                <a:sym typeface="More Sugar"/>
              </a:rPr>
              <a:t>Result &amp;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62185" y="3196504"/>
            <a:ext cx="11250788" cy="479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2093" lvl="1" indent="-296047" algn="l">
              <a:lnSpc>
                <a:spcPts val="3839"/>
              </a:lnSpc>
              <a:buFont typeface="Arial"/>
              <a:buChar char="•"/>
            </a:pPr>
            <a:r>
              <a:rPr lang="en-US" sz="2742" spc="3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System Reliability: The model correctly identifies standard risk profiles based on established lifestyle markers.</a:t>
            </a:r>
          </a:p>
          <a:p>
            <a:pPr marL="592093" lvl="1" indent="-296047" algn="l">
              <a:lnSpc>
                <a:spcPts val="3839"/>
              </a:lnSpc>
              <a:buFont typeface="Arial"/>
              <a:buChar char="•"/>
            </a:pPr>
            <a:r>
              <a:rPr lang="en-US" sz="2742" spc="3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Functional Verification:</a:t>
            </a:r>
          </a:p>
          <a:p>
            <a:pPr marL="592093" lvl="1" indent="-296047" algn="l">
              <a:lnSpc>
                <a:spcPts val="3839"/>
              </a:lnSpc>
              <a:buFont typeface="Arial"/>
              <a:buChar char="•"/>
            </a:pPr>
            <a:r>
              <a:rPr lang="en-US" sz="2742" spc="3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Test Case 1 (High Risk): Input of low sleep (&lt;4 hrs) and low mood (&lt;3) successfully triggers the "High Risk" alert.</a:t>
            </a:r>
          </a:p>
          <a:p>
            <a:pPr marL="592093" lvl="1" indent="-296047" algn="l">
              <a:lnSpc>
                <a:spcPts val="3839"/>
              </a:lnSpc>
              <a:buFont typeface="Arial"/>
              <a:buChar char="•"/>
            </a:pPr>
            <a:r>
              <a:rPr lang="en-US" sz="2742" spc="3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Test Case 2 (Low Risk): Input of optimal sleep (&gt;7 hrs) and high activity triggers the "Neurological Wellness" confirmation.</a:t>
            </a:r>
          </a:p>
          <a:p>
            <a:pPr marL="592093" lvl="1" indent="-296047" algn="l">
              <a:lnSpc>
                <a:spcPts val="3839"/>
              </a:lnSpc>
              <a:buFont typeface="Arial"/>
              <a:buChar char="•"/>
            </a:pPr>
            <a:r>
              <a:rPr lang="en-US" sz="2742" spc="3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Response Latency: System completes the logic execution in under 0.5 seconds locally.</a:t>
            </a:r>
          </a:p>
          <a:p>
            <a:pPr marL="592093" lvl="1" indent="-296047" algn="l">
              <a:lnSpc>
                <a:spcPts val="3839"/>
              </a:lnSpc>
              <a:buFont typeface="Arial"/>
              <a:buChar char="•"/>
            </a:pPr>
            <a:endParaRPr lang="en-US" sz="2742" spc="3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573000" y="0"/>
            <a:ext cx="5715000" cy="2229213"/>
          </a:xfrm>
          <a:custGeom>
            <a:avLst/>
            <a:gdLst/>
            <a:ahLst/>
            <a:cxnLst/>
            <a:rect l="l" t="t" r="r" b="b"/>
            <a:pathLst>
              <a:path w="6111878" h="2401025">
                <a:moveTo>
                  <a:pt x="0" y="0"/>
                </a:moveTo>
                <a:lnTo>
                  <a:pt x="6111878" y="0"/>
                </a:lnTo>
                <a:lnTo>
                  <a:pt x="6111878" y="2401024"/>
                </a:lnTo>
                <a:lnTo>
                  <a:pt x="0" y="2401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870" r="-6944" b="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>
            <a:off x="14134905" y="6725668"/>
            <a:ext cx="4153095" cy="3561332"/>
          </a:xfrm>
          <a:custGeom>
            <a:avLst/>
            <a:gdLst/>
            <a:ahLst/>
            <a:cxnLst/>
            <a:rect l="l" t="t" r="r" b="b"/>
            <a:pathLst>
              <a:path w="4362433" h="3561332">
                <a:moveTo>
                  <a:pt x="0" y="0"/>
                </a:moveTo>
                <a:lnTo>
                  <a:pt x="4362433" y="0"/>
                </a:lnTo>
                <a:lnTo>
                  <a:pt x="4362433" y="3561332"/>
                </a:lnTo>
                <a:lnTo>
                  <a:pt x="0" y="3561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" r="-5041"/>
            </a:stretch>
          </a:blipFill>
        </p:spPr>
      </p:sp>
      <p:sp>
        <p:nvSpPr>
          <p:cNvPr id="6" name="Freeform 6"/>
          <p:cNvSpPr/>
          <p:nvPr/>
        </p:nvSpPr>
        <p:spPr>
          <a:xfrm rot="-1683223">
            <a:off x="-332207" y="101224"/>
            <a:ext cx="3871305" cy="1716552"/>
          </a:xfrm>
          <a:custGeom>
            <a:avLst/>
            <a:gdLst/>
            <a:ahLst/>
            <a:cxnLst/>
            <a:rect l="l" t="t" r="r" b="b"/>
            <a:pathLst>
              <a:path w="5035683" h="2312901">
                <a:moveTo>
                  <a:pt x="0" y="0"/>
                </a:moveTo>
                <a:lnTo>
                  <a:pt x="5035683" y="0"/>
                </a:lnTo>
                <a:lnTo>
                  <a:pt x="5035683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749" t="-412" r="-5015" b="412"/>
            </a:stretch>
          </a:blipFill>
        </p:spPr>
      </p:sp>
      <p:sp>
        <p:nvSpPr>
          <p:cNvPr id="7" name="Freeform 7"/>
          <p:cNvSpPr/>
          <p:nvPr/>
        </p:nvSpPr>
        <p:spPr>
          <a:xfrm rot="-9888984">
            <a:off x="-199898" y="7426629"/>
            <a:ext cx="5732239" cy="2496166"/>
          </a:xfrm>
          <a:custGeom>
            <a:avLst/>
            <a:gdLst/>
            <a:ahLst/>
            <a:cxnLst/>
            <a:rect l="l" t="t" r="r" b="b"/>
            <a:pathLst>
              <a:path w="6113794" h="2808080">
                <a:moveTo>
                  <a:pt x="0" y="0"/>
                </a:moveTo>
                <a:lnTo>
                  <a:pt x="6113794" y="0"/>
                </a:lnTo>
                <a:lnTo>
                  <a:pt x="6113794" y="2808080"/>
                </a:lnTo>
                <a:lnTo>
                  <a:pt x="0" y="28080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1561" y="3513362"/>
            <a:ext cx="6352439" cy="481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spc="2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Conclusion: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2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Successfully integrated a machine learning model into a user-facing web dashboard.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2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Created a working prototype for non-clinical neurological risk screening.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2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Maintained a lightweight and high-performance local execution environment.</a:t>
            </a:r>
          </a:p>
          <a:p>
            <a:pPr algn="l">
              <a:lnSpc>
                <a:spcPts val="3499"/>
              </a:lnSpc>
            </a:pPr>
            <a:endParaRPr lang="en-US" sz="2499" spc="27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3499"/>
              </a:lnSpc>
            </a:pPr>
            <a:endParaRPr lang="en-US" sz="2499" spc="27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173055" y="8199507"/>
            <a:ext cx="5024391" cy="2087493"/>
          </a:xfrm>
          <a:custGeom>
            <a:avLst/>
            <a:gdLst/>
            <a:ahLst/>
            <a:cxnLst/>
            <a:rect l="l" t="t" r="r" b="b"/>
            <a:pathLst>
              <a:path w="5397094" h="2087493">
                <a:moveTo>
                  <a:pt x="0" y="0"/>
                </a:moveTo>
                <a:lnTo>
                  <a:pt x="5397094" y="0"/>
                </a:lnTo>
                <a:lnTo>
                  <a:pt x="5397094" y="2087493"/>
                </a:lnTo>
                <a:lnTo>
                  <a:pt x="0" y="2087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418" b="-677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71602" y="0"/>
            <a:ext cx="2416398" cy="3163043"/>
          </a:xfrm>
          <a:custGeom>
            <a:avLst/>
            <a:gdLst/>
            <a:ahLst/>
            <a:cxnLst/>
            <a:rect l="l" t="t" r="r" b="b"/>
            <a:pathLst>
              <a:path w="4331872" h="4245235">
                <a:moveTo>
                  <a:pt x="0" y="0"/>
                </a:moveTo>
                <a:lnTo>
                  <a:pt x="4331872" y="0"/>
                </a:lnTo>
                <a:lnTo>
                  <a:pt x="4331872" y="4245234"/>
                </a:lnTo>
                <a:lnTo>
                  <a:pt x="0" y="4245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4214" r="-7927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040302" y="-376815"/>
            <a:ext cx="5035683" cy="2312901"/>
          </a:xfrm>
          <a:custGeom>
            <a:avLst/>
            <a:gdLst/>
            <a:ahLst/>
            <a:cxnLst/>
            <a:rect l="l" t="t" r="r" b="b"/>
            <a:pathLst>
              <a:path w="5035683" h="2312901">
                <a:moveTo>
                  <a:pt x="0" y="0"/>
                </a:moveTo>
                <a:lnTo>
                  <a:pt x="5035684" y="0"/>
                </a:lnTo>
                <a:lnTo>
                  <a:pt x="5035684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714719">
            <a:off x="-225635" y="6544833"/>
            <a:ext cx="4032149" cy="3043896"/>
          </a:xfrm>
          <a:custGeom>
            <a:avLst/>
            <a:gdLst/>
            <a:ahLst/>
            <a:cxnLst/>
            <a:rect l="l" t="t" r="r" b="b"/>
            <a:pathLst>
              <a:path w="6105575" h="5017673">
                <a:moveTo>
                  <a:pt x="0" y="0"/>
                </a:moveTo>
                <a:lnTo>
                  <a:pt x="6105575" y="0"/>
                </a:lnTo>
                <a:lnTo>
                  <a:pt x="6105575" y="5017673"/>
                </a:lnTo>
                <a:lnTo>
                  <a:pt x="0" y="5017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2623" t="-3540" r="-2689" b="3540"/>
            </a:stretch>
          </a:blipFill>
        </p:spPr>
      </p:sp>
      <p:sp>
        <p:nvSpPr>
          <p:cNvPr id="8" name="Freeform 8"/>
          <p:cNvSpPr/>
          <p:nvPr/>
        </p:nvSpPr>
        <p:spPr>
          <a:xfrm rot="10479998">
            <a:off x="5817110" y="8604724"/>
            <a:ext cx="6113794" cy="2808080"/>
          </a:xfrm>
          <a:custGeom>
            <a:avLst/>
            <a:gdLst/>
            <a:ahLst/>
            <a:cxnLst/>
            <a:rect l="l" t="t" r="r" b="b"/>
            <a:pathLst>
              <a:path w="6113794" h="2808080">
                <a:moveTo>
                  <a:pt x="0" y="0"/>
                </a:moveTo>
                <a:lnTo>
                  <a:pt x="6113794" y="0"/>
                </a:lnTo>
                <a:lnTo>
                  <a:pt x="6113794" y="2808079"/>
                </a:lnTo>
                <a:lnTo>
                  <a:pt x="0" y="28080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519163" y="3513362"/>
            <a:ext cx="6352439" cy="481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 spc="2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Future Scope (Roadmap): </a:t>
            </a:r>
          </a:p>
          <a:p>
            <a:pPr algn="just">
              <a:lnSpc>
                <a:spcPts val="3499"/>
              </a:lnSpc>
            </a:pPr>
            <a:r>
              <a:rPr lang="en-US" sz="2499" spc="2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Advanced AI: Integration of Recurrent Neural Networks (RNNs) to analyze temporal patterns (trends over weeks).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spc="2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Interoperability: Implementation of FHIR/HL7 standards to allow data sharing with hospital management systems.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spc="2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IoT Integration: Real-time data sync with smartwatches for automatic sleep and activity logging.</a:t>
            </a:r>
          </a:p>
          <a:p>
            <a:pPr algn="just">
              <a:lnSpc>
                <a:spcPts val="3499"/>
              </a:lnSpc>
            </a:pPr>
            <a:endParaRPr lang="en-US" sz="2499" spc="27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35216" y="1783687"/>
            <a:ext cx="12847584" cy="1322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90"/>
              </a:lnSpc>
            </a:pPr>
            <a:r>
              <a:rPr lang="en-US" sz="7707" dirty="0">
                <a:solidFill>
                  <a:srgbClr val="F9E2CF"/>
                </a:solidFill>
                <a:latin typeface="More Sugar"/>
                <a:ea typeface="More Sugar"/>
                <a:cs typeface="More Sugar"/>
                <a:sym typeface="More Sugar"/>
              </a:rPr>
              <a:t>Conclusion &amp; Future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386</Words>
  <Application>Microsoft Office PowerPoint</Application>
  <PresentationFormat>Custom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Canva Sans</vt:lpstr>
      <vt:lpstr>More Sugar</vt:lpstr>
      <vt:lpstr>Barlow</vt:lpstr>
      <vt:lpstr>Barlow Bold Italics</vt:lpstr>
      <vt:lpstr>Calibri</vt:lpstr>
      <vt:lpstr>Canva Sans Italics</vt:lpstr>
      <vt:lpstr>Arial</vt:lpstr>
      <vt:lpstr>Canva Sans Bold Italics</vt:lpstr>
      <vt:lpstr>Canva Sans Bold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and Green Playful Neuron Brain Group Project Presentation</dc:title>
  <dc:creator>khushii</dc:creator>
  <cp:lastModifiedBy>khushiixyz25@gmail.com</cp:lastModifiedBy>
  <cp:revision>2</cp:revision>
  <dcterms:created xsi:type="dcterms:W3CDTF">2006-08-16T00:00:00Z</dcterms:created>
  <dcterms:modified xsi:type="dcterms:W3CDTF">2025-12-19T18:54:20Z</dcterms:modified>
  <dc:identifier>DAG7e9NIw0w</dc:identifier>
</cp:coreProperties>
</file>