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re Sugar" charset="1" panose="00000000000000000000"/>
      <p:regular r:id="rId13"/>
    </p:embeddedFont>
    <p:embeddedFont>
      <p:font typeface="Barlow Bold Italics" charset="1" panose="00000800000000000000"/>
      <p:regular r:id="rId14"/>
    </p:embeddedFont>
    <p:embeddedFont>
      <p:font typeface="Barlow Bold" charset="1" panose="00000800000000000000"/>
      <p:regular r:id="rId15"/>
    </p:embeddedFont>
    <p:embeddedFont>
      <p:font typeface="Canva Sans Bold Italics" charset="1" panose="020B0803030501040103"/>
      <p:regular r:id="rId16"/>
    </p:embeddedFont>
    <p:embeddedFont>
      <p:font typeface="Canva Sans Bold" charset="1" panose="020B0803030501040103"/>
      <p:regular r:id="rId17"/>
    </p:embeddedFont>
    <p:embeddedFont>
      <p:font typeface="Canva Sans Italics" charset="1" panose="020B0503030501040103"/>
      <p:regular r:id="rId18"/>
    </p:embeddedFont>
    <p:embeddedFont>
      <p:font typeface="Canva Sans" charset="1" panose="020B0503030501040103"/>
      <p:regular r:id="rId19"/>
    </p:embeddedFont>
    <p:embeddedFont>
      <p:font typeface="Barlow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46378" y="3575330"/>
            <a:ext cx="11506358" cy="164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0"/>
              </a:lnSpc>
            </a:pPr>
            <a:r>
              <a:rPr lang="en-US" sz="1254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CORTEXA AI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244251" y="-406517"/>
            <a:ext cx="5043749" cy="4865072"/>
          </a:xfrm>
          <a:custGeom>
            <a:avLst/>
            <a:gdLst/>
            <a:ahLst/>
            <a:cxnLst/>
            <a:rect r="r" b="b" t="t" l="l"/>
            <a:pathLst>
              <a:path h="4865072" w="5043749">
                <a:moveTo>
                  <a:pt x="0" y="0"/>
                </a:moveTo>
                <a:lnTo>
                  <a:pt x="5043749" y="0"/>
                </a:lnTo>
                <a:lnTo>
                  <a:pt x="5043749" y="4865072"/>
                </a:lnTo>
                <a:lnTo>
                  <a:pt x="0" y="4865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6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7314" y="6494356"/>
            <a:ext cx="5640703" cy="5527889"/>
          </a:xfrm>
          <a:custGeom>
            <a:avLst/>
            <a:gdLst/>
            <a:ahLst/>
            <a:cxnLst/>
            <a:rect r="r" b="b" t="t" l="l"/>
            <a:pathLst>
              <a:path h="5527889" w="5640703">
                <a:moveTo>
                  <a:pt x="0" y="0"/>
                </a:moveTo>
                <a:lnTo>
                  <a:pt x="5640703" y="0"/>
                </a:lnTo>
                <a:lnTo>
                  <a:pt x="5640703" y="5527888"/>
                </a:lnTo>
                <a:lnTo>
                  <a:pt x="0" y="552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19403" y="0"/>
            <a:ext cx="3876435" cy="3164581"/>
          </a:xfrm>
          <a:custGeom>
            <a:avLst/>
            <a:gdLst/>
            <a:ahLst/>
            <a:cxnLst/>
            <a:rect r="r" b="b" t="t" l="l"/>
            <a:pathLst>
              <a:path h="3164581" w="3876435">
                <a:moveTo>
                  <a:pt x="0" y="0"/>
                </a:moveTo>
                <a:lnTo>
                  <a:pt x="3876435" y="0"/>
                </a:lnTo>
                <a:lnTo>
                  <a:pt x="3876435" y="3164581"/>
                </a:lnTo>
                <a:lnTo>
                  <a:pt x="0" y="31645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56166" y="0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092840">
            <a:off x="-941779" y="4971982"/>
            <a:ext cx="6105575" cy="5017673"/>
          </a:xfrm>
          <a:custGeom>
            <a:avLst/>
            <a:gdLst/>
            <a:ahLst/>
            <a:cxnLst/>
            <a:rect r="r" b="b" t="t" l="l"/>
            <a:pathLst>
              <a:path h="5017673" w="6105575">
                <a:moveTo>
                  <a:pt x="0" y="0"/>
                </a:moveTo>
                <a:lnTo>
                  <a:pt x="6105575" y="0"/>
                </a:lnTo>
                <a:lnTo>
                  <a:pt x="6105575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479998">
            <a:off x="6456326" y="8059131"/>
            <a:ext cx="5221698" cy="2398338"/>
          </a:xfrm>
          <a:custGeom>
            <a:avLst/>
            <a:gdLst/>
            <a:ahLst/>
            <a:cxnLst/>
            <a:rect r="r" b="b" t="t" l="l"/>
            <a:pathLst>
              <a:path h="2398338" w="5221698">
                <a:moveTo>
                  <a:pt x="0" y="0"/>
                </a:moveTo>
                <a:lnTo>
                  <a:pt x="5221698" y="0"/>
                </a:lnTo>
                <a:lnTo>
                  <a:pt x="5221698" y="2398338"/>
                </a:lnTo>
                <a:lnTo>
                  <a:pt x="0" y="2398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78881" y="5128832"/>
            <a:ext cx="11241352" cy="160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64"/>
              </a:lnSpc>
            </a:pPr>
            <a:r>
              <a:rPr lang="en-US" b="true" sz="4617" i="true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C</a:t>
            </a:r>
            <a:r>
              <a:rPr lang="en-US" b="true" sz="4617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ognitive </a:t>
            </a:r>
            <a:r>
              <a:rPr lang="en-US" b="true" sz="4617" i="true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O</a:t>
            </a:r>
            <a:r>
              <a:rPr lang="en-US" b="true" sz="4617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bservation &amp; </a:t>
            </a:r>
            <a:r>
              <a:rPr lang="en-US" b="true" sz="4617" i="true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R</a:t>
            </a:r>
            <a:r>
              <a:rPr lang="en-US" b="true" sz="4617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isk </a:t>
            </a:r>
            <a:r>
              <a:rPr lang="en-US" b="true" sz="4617" i="true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T</a:t>
            </a:r>
            <a:r>
              <a:rPr lang="en-US" b="true" sz="4617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racking </a:t>
            </a:r>
            <a:r>
              <a:rPr lang="en-US" b="true" sz="4617" i="true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E</a:t>
            </a:r>
            <a:r>
              <a:rPr lang="en-US" b="true" sz="4617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ngine for Exploratory </a:t>
            </a:r>
            <a:r>
              <a:rPr lang="en-US" b="true" sz="4617" i="true" spc="50">
                <a:solidFill>
                  <a:srgbClr val="FFFFFF"/>
                </a:solidFill>
                <a:latin typeface="Barlow Bold Italics"/>
                <a:ea typeface="Barlow Bold Italics"/>
                <a:cs typeface="Barlow Bold Italics"/>
                <a:sym typeface="Barlow Bold Italics"/>
              </a:rPr>
              <a:t>A</a:t>
            </a:r>
            <a:r>
              <a:rPr lang="en-US" b="true" sz="4617" spc="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nalysis using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2748" y="2396820"/>
            <a:ext cx="7411259" cy="74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5694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Problem Statement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90145" y="1906583"/>
            <a:ext cx="6687040" cy="4338217"/>
          </a:xfrm>
          <a:custGeom>
            <a:avLst/>
            <a:gdLst/>
            <a:ahLst/>
            <a:cxnLst/>
            <a:rect r="r" b="b" t="t" l="l"/>
            <a:pathLst>
              <a:path h="4338217" w="6687040">
                <a:moveTo>
                  <a:pt x="0" y="0"/>
                </a:moveTo>
                <a:lnTo>
                  <a:pt x="6687041" y="0"/>
                </a:lnTo>
                <a:lnTo>
                  <a:pt x="6687041" y="4338218"/>
                </a:lnTo>
                <a:lnTo>
                  <a:pt x="0" y="4338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66600" y="6244801"/>
            <a:ext cx="4221400" cy="4136972"/>
          </a:xfrm>
          <a:custGeom>
            <a:avLst/>
            <a:gdLst/>
            <a:ahLst/>
            <a:cxnLst/>
            <a:rect r="r" b="b" t="t" l="l"/>
            <a:pathLst>
              <a:path h="4136972" w="4221400">
                <a:moveTo>
                  <a:pt x="0" y="0"/>
                </a:moveTo>
                <a:lnTo>
                  <a:pt x="4221400" y="0"/>
                </a:lnTo>
                <a:lnTo>
                  <a:pt x="4221400" y="4136972"/>
                </a:lnTo>
                <a:lnTo>
                  <a:pt x="0" y="4136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6166" y="-601534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092840">
            <a:off x="-2045628" y="6330148"/>
            <a:ext cx="6105575" cy="5017673"/>
          </a:xfrm>
          <a:custGeom>
            <a:avLst/>
            <a:gdLst/>
            <a:ahLst/>
            <a:cxnLst/>
            <a:rect r="r" b="b" t="t" l="l"/>
            <a:pathLst>
              <a:path h="5017673" w="6105575">
                <a:moveTo>
                  <a:pt x="0" y="0"/>
                </a:moveTo>
                <a:lnTo>
                  <a:pt x="6105576" y="0"/>
                </a:lnTo>
                <a:lnTo>
                  <a:pt x="6105576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479998">
            <a:off x="4859080" y="8380237"/>
            <a:ext cx="6113794" cy="2808080"/>
          </a:xfrm>
          <a:custGeom>
            <a:avLst/>
            <a:gdLst/>
            <a:ahLst/>
            <a:cxnLst/>
            <a:rect r="r" b="b" t="t" l="l"/>
            <a:pathLst>
              <a:path h="2808080" w="6113794">
                <a:moveTo>
                  <a:pt x="0" y="0"/>
                </a:moveTo>
                <a:lnTo>
                  <a:pt x="6113793" y="0"/>
                </a:lnTo>
                <a:lnTo>
                  <a:pt x="6113793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39238" y="1458556"/>
            <a:ext cx="9525" cy="117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89660" y="3441278"/>
            <a:ext cx="9491058" cy="431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8379" indent="-294189" lvl="1">
              <a:lnSpc>
                <a:spcPts val="3815"/>
              </a:lnSpc>
              <a:buFont typeface="Arial"/>
              <a:buChar char="•"/>
            </a:pPr>
            <a:r>
              <a:rPr lang="en-US" b="true" sz="2725" i="true">
                <a:solidFill>
                  <a:srgbClr val="F9E2C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Neurological disorders are often detected at later stages.</a:t>
            </a:r>
          </a:p>
          <a:p>
            <a:pPr algn="just">
              <a:lnSpc>
                <a:spcPts val="3815"/>
              </a:lnSpc>
            </a:pPr>
          </a:p>
          <a:p>
            <a:pPr algn="just" marL="588379" indent="-294189" lvl="1">
              <a:lnSpc>
                <a:spcPts val="3815"/>
              </a:lnSpc>
              <a:buFont typeface="Arial"/>
              <a:buChar char="•"/>
            </a:pPr>
            <a:r>
              <a:rPr lang="en-US" b="true" sz="2725" i="true">
                <a:solidFill>
                  <a:srgbClr val="F9E2C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Lifestyle and behavioral data are rarely used for early risk prediction.</a:t>
            </a:r>
          </a:p>
          <a:p>
            <a:pPr algn="just">
              <a:lnSpc>
                <a:spcPts val="3815"/>
              </a:lnSpc>
            </a:pPr>
          </a:p>
          <a:p>
            <a:pPr algn="just" marL="588379" indent="-294189" lvl="1">
              <a:lnSpc>
                <a:spcPts val="3815"/>
              </a:lnSpc>
              <a:buFont typeface="Arial"/>
              <a:buChar char="•"/>
            </a:pPr>
            <a:r>
              <a:rPr lang="en-US" b="true" sz="2725" i="true">
                <a:solidFill>
                  <a:srgbClr val="F9E2C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Existing systems lack personalized, AI-driven neurological risk assessment.</a:t>
            </a:r>
          </a:p>
          <a:p>
            <a:pPr algn="r">
              <a:lnSpc>
                <a:spcPts val="381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0486" y="-128880"/>
            <a:ext cx="2937514" cy="3035633"/>
          </a:xfrm>
          <a:custGeom>
            <a:avLst/>
            <a:gdLst/>
            <a:ahLst/>
            <a:cxnLst/>
            <a:rect r="r" b="b" t="t" l="l"/>
            <a:pathLst>
              <a:path h="3035633" w="2937514">
                <a:moveTo>
                  <a:pt x="0" y="0"/>
                </a:moveTo>
                <a:lnTo>
                  <a:pt x="2937514" y="0"/>
                </a:lnTo>
                <a:lnTo>
                  <a:pt x="2937514" y="3035633"/>
                </a:lnTo>
                <a:lnTo>
                  <a:pt x="0" y="303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929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61149" y="-128880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20834">
            <a:off x="-603554" y="6976555"/>
            <a:ext cx="6113794" cy="2808080"/>
          </a:xfrm>
          <a:custGeom>
            <a:avLst/>
            <a:gdLst/>
            <a:ahLst/>
            <a:cxnLst/>
            <a:rect r="r" b="b" t="t" l="l"/>
            <a:pathLst>
              <a:path h="2808080" w="6113794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864654" y="3144878"/>
            <a:ext cx="3571505" cy="1560499"/>
            <a:chOff x="0" y="0"/>
            <a:chExt cx="940643" cy="4109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643" cy="410996"/>
            </a:xfrm>
            <a:custGeom>
              <a:avLst/>
              <a:gdLst/>
              <a:ahLst/>
              <a:cxnLst/>
              <a:rect r="r" b="b" t="t" l="l"/>
              <a:pathLst>
                <a:path h="410996" w="940643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36159" y="3551832"/>
            <a:ext cx="1556933" cy="746590"/>
            <a:chOff x="0" y="0"/>
            <a:chExt cx="169500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93092" y="3144878"/>
            <a:ext cx="3571505" cy="1560499"/>
            <a:chOff x="0" y="0"/>
            <a:chExt cx="940643" cy="410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643" cy="410996"/>
            </a:xfrm>
            <a:custGeom>
              <a:avLst/>
              <a:gdLst/>
              <a:ahLst/>
              <a:cxnLst/>
              <a:rect r="r" b="b" t="t" l="l"/>
              <a:pathLst>
                <a:path h="410996" w="940643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64597" y="3551832"/>
            <a:ext cx="1556933" cy="746590"/>
            <a:chOff x="0" y="0"/>
            <a:chExt cx="169500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21530" y="3144878"/>
            <a:ext cx="3571505" cy="1560499"/>
            <a:chOff x="0" y="0"/>
            <a:chExt cx="940643" cy="4109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643" cy="410996"/>
            </a:xfrm>
            <a:custGeom>
              <a:avLst/>
              <a:gdLst/>
              <a:ahLst/>
              <a:cxnLst/>
              <a:rect r="r" b="b" t="t" l="l"/>
              <a:pathLst>
                <a:path h="410996" w="940643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5128816" y="5110549"/>
            <a:ext cx="1556933" cy="746590"/>
            <a:chOff x="0" y="0"/>
            <a:chExt cx="1695007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72764" y="6237501"/>
            <a:ext cx="3571505" cy="1560499"/>
            <a:chOff x="0" y="0"/>
            <a:chExt cx="940643" cy="4109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0643" cy="410996"/>
            </a:xfrm>
            <a:custGeom>
              <a:avLst/>
              <a:gdLst/>
              <a:ahLst/>
              <a:cxnLst/>
              <a:rect r="r" b="b" t="t" l="l"/>
              <a:pathLst>
                <a:path h="410996" w="940643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2415831" y="6644456"/>
            <a:ext cx="1556933" cy="746590"/>
            <a:chOff x="0" y="0"/>
            <a:chExt cx="1695007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44326" y="6304997"/>
            <a:ext cx="3571505" cy="1560499"/>
            <a:chOff x="0" y="0"/>
            <a:chExt cx="940643" cy="4109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0643" cy="410996"/>
            </a:xfrm>
            <a:custGeom>
              <a:avLst/>
              <a:gdLst/>
              <a:ahLst/>
              <a:cxnLst/>
              <a:rect r="r" b="b" t="t" l="l"/>
              <a:pathLst>
                <a:path h="410996" w="940643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7287393" y="6711951"/>
            <a:ext cx="1556933" cy="746590"/>
            <a:chOff x="0" y="0"/>
            <a:chExt cx="1695007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60030" y="6304997"/>
            <a:ext cx="3571505" cy="1560499"/>
            <a:chOff x="0" y="0"/>
            <a:chExt cx="940643" cy="4109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0643" cy="410996"/>
            </a:xfrm>
            <a:custGeom>
              <a:avLst/>
              <a:gdLst/>
              <a:ahLst/>
              <a:cxnLst/>
              <a:rect r="r" b="b" t="t" l="l"/>
              <a:pathLst>
                <a:path h="410996" w="940643">
                  <a:moveTo>
                    <a:pt x="0" y="0"/>
                  </a:moveTo>
                  <a:lnTo>
                    <a:pt x="940643" y="0"/>
                  </a:lnTo>
                  <a:lnTo>
                    <a:pt x="940643" y="410996"/>
                  </a:lnTo>
                  <a:lnTo>
                    <a:pt x="0" y="410996"/>
                  </a:lnTo>
                  <a:close/>
                </a:path>
              </a:pathLst>
            </a:custGeom>
            <a:solidFill>
              <a:srgbClr val="F0CEC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40643" cy="44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9933" y="3144878"/>
            <a:ext cx="2305021" cy="1619277"/>
          </a:xfrm>
          <a:custGeom>
            <a:avLst/>
            <a:gdLst/>
            <a:ahLst/>
            <a:cxnLst/>
            <a:rect r="r" b="b" t="t" l="l"/>
            <a:pathLst>
              <a:path h="1619277" w="2305021">
                <a:moveTo>
                  <a:pt x="0" y="0"/>
                </a:moveTo>
                <a:lnTo>
                  <a:pt x="2305021" y="0"/>
                </a:lnTo>
                <a:lnTo>
                  <a:pt x="2305021" y="1619276"/>
                </a:lnTo>
                <a:lnTo>
                  <a:pt x="0" y="1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868144" y="1672536"/>
            <a:ext cx="5104090" cy="117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  <a:spcBef>
                <a:spcPct val="0"/>
              </a:spcBef>
            </a:pPr>
            <a:r>
              <a:rPr lang="en-US" sz="6846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Methodology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454954" y="3581221"/>
            <a:ext cx="1409700" cy="675988"/>
            <a:chOff x="0" y="0"/>
            <a:chExt cx="1695007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9933" y="6275608"/>
            <a:ext cx="2305021" cy="1619277"/>
          </a:xfrm>
          <a:custGeom>
            <a:avLst/>
            <a:gdLst/>
            <a:ahLst/>
            <a:cxnLst/>
            <a:rect r="r" b="b" t="t" l="l"/>
            <a:pathLst>
              <a:path h="1619277" w="2305021">
                <a:moveTo>
                  <a:pt x="0" y="0"/>
                </a:moveTo>
                <a:lnTo>
                  <a:pt x="2305021" y="0"/>
                </a:lnTo>
                <a:lnTo>
                  <a:pt x="2305021" y="1619277"/>
                </a:lnTo>
                <a:lnTo>
                  <a:pt x="0" y="16192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2453343" y="6782553"/>
            <a:ext cx="1206687" cy="578637"/>
            <a:chOff x="0" y="0"/>
            <a:chExt cx="1695007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95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95007">
                  <a:moveTo>
                    <a:pt x="1695007" y="406400"/>
                  </a:moveTo>
                  <a:lnTo>
                    <a:pt x="1288607" y="0"/>
                  </a:lnTo>
                  <a:lnTo>
                    <a:pt x="1288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8607" y="609600"/>
                  </a:lnTo>
                  <a:lnTo>
                    <a:pt x="1288607" y="812800"/>
                  </a:lnTo>
                  <a:lnTo>
                    <a:pt x="1695007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165100"/>
              <a:ext cx="1593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72460" y="3549297"/>
            <a:ext cx="1459967" cy="65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373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83754" y="3286281"/>
            <a:ext cx="2561051" cy="121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Input</a:t>
            </a:r>
          </a:p>
          <a:p>
            <a:pPr algn="just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(Mood, Sleep, Diet, Activity)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83642" y="3286281"/>
            <a:ext cx="2561051" cy="121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</a:t>
            </a:r>
          </a:p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(Preprocessing &amp; Scoring)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48526" y="6452545"/>
            <a:ext cx="2561051" cy="121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Risk Prediction</a:t>
            </a:r>
          </a:p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(Binary Classification)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48526" y="3292426"/>
            <a:ext cx="2917513" cy="121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Extraction</a:t>
            </a:r>
          </a:p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(Behavioral Scores)</a:t>
            </a:r>
          </a:p>
          <a:p>
            <a:pPr algn="just">
              <a:lnSpc>
                <a:spcPts val="3228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9349553" y="6439171"/>
            <a:ext cx="2561051" cy="121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Assessment</a:t>
            </a:r>
          </a:p>
          <a:p>
            <a:pPr algn="l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(Low  / High)</a:t>
            </a:r>
          </a:p>
          <a:p>
            <a:pPr algn="just">
              <a:lnSpc>
                <a:spcPts val="3228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4221517" y="6416265"/>
            <a:ext cx="2827751" cy="162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Insights</a:t>
            </a:r>
          </a:p>
          <a:p>
            <a:pPr algn="just">
              <a:lnSpc>
                <a:spcPts val="3228"/>
              </a:lnSpc>
            </a:pPr>
            <a:r>
              <a:rPr lang="en-US" sz="230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(Personalized Recommendations)</a:t>
            </a:r>
          </a:p>
          <a:p>
            <a:pPr algn="just">
              <a:lnSpc>
                <a:spcPts val="3228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790562" y="6707079"/>
            <a:ext cx="1023763" cy="65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373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3310" y="1657933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System Design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661374" y="7877520"/>
            <a:ext cx="4946321" cy="2409480"/>
          </a:xfrm>
          <a:custGeom>
            <a:avLst/>
            <a:gdLst/>
            <a:ahLst/>
            <a:cxnLst/>
            <a:rect r="r" b="b" t="t" l="l"/>
            <a:pathLst>
              <a:path h="2409480" w="4946321">
                <a:moveTo>
                  <a:pt x="0" y="0"/>
                </a:moveTo>
                <a:lnTo>
                  <a:pt x="4946321" y="0"/>
                </a:lnTo>
                <a:lnTo>
                  <a:pt x="4946321" y="2409480"/>
                </a:lnTo>
                <a:lnTo>
                  <a:pt x="0" y="2409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108" b="-5463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69047" y="0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289741">
            <a:off x="-711199" y="277580"/>
            <a:ext cx="3034742" cy="2494006"/>
          </a:xfrm>
          <a:custGeom>
            <a:avLst/>
            <a:gdLst/>
            <a:ahLst/>
            <a:cxnLst/>
            <a:rect r="r" b="b" t="t" l="l"/>
            <a:pathLst>
              <a:path h="2494006" w="3034742">
                <a:moveTo>
                  <a:pt x="0" y="0"/>
                </a:moveTo>
                <a:lnTo>
                  <a:pt x="3034742" y="0"/>
                </a:lnTo>
                <a:lnTo>
                  <a:pt x="3034742" y="2494006"/>
                </a:lnTo>
                <a:lnTo>
                  <a:pt x="0" y="24940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479998">
            <a:off x="3059710" y="8882960"/>
            <a:ext cx="6113794" cy="2808080"/>
          </a:xfrm>
          <a:custGeom>
            <a:avLst/>
            <a:gdLst/>
            <a:ahLst/>
            <a:cxnLst/>
            <a:rect r="r" b="b" t="t" l="l"/>
            <a:pathLst>
              <a:path h="2808080" w="6113794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3310" y="2733724"/>
            <a:ext cx="9726424" cy="699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High-Level Architecture: Client-Server Model.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Frontend: HTML5, CSS3, and Jinja2 templates for a responsive user dashboard.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Backend: Flask (Python) handling the request-response cycle and model inference.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Design Diagrams: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ER Diagram: Models the logical entities: User, Input Metrics, and Prediction results.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Data Flow Diagram (Level 1): Illustrates the movement from raw user input to the processed AI prediction.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  <a:r>
              <a:rPr lang="en-US" sz="2658" i="true">
                <a:solidFill>
                  <a:srgbClr val="F9E2C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Input Requirements: Validates four key parameters: Mood Score (1-10), Sleep Hours (0-15), Activity Rating (1-10), and Diet Quality.</a:t>
            </a:r>
          </a:p>
          <a:p>
            <a:pPr algn="just" marL="574023" indent="-287011" lvl="1">
              <a:lnSpc>
                <a:spcPts val="3722"/>
              </a:lnSpc>
              <a:buFont typeface="Arial"/>
              <a:buChar char="•"/>
            </a:pPr>
          </a:p>
          <a:p>
            <a:pPr algn="just">
              <a:lnSpc>
                <a:spcPts val="372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68442" y="6771921"/>
            <a:ext cx="3619558" cy="3547167"/>
          </a:xfrm>
          <a:custGeom>
            <a:avLst/>
            <a:gdLst/>
            <a:ahLst/>
            <a:cxnLst/>
            <a:rect r="r" b="b" t="t" l="l"/>
            <a:pathLst>
              <a:path h="3547167" w="3619558">
                <a:moveTo>
                  <a:pt x="0" y="0"/>
                </a:moveTo>
                <a:lnTo>
                  <a:pt x="3619558" y="0"/>
                </a:lnTo>
                <a:lnTo>
                  <a:pt x="3619558" y="3547167"/>
                </a:lnTo>
                <a:lnTo>
                  <a:pt x="0" y="354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54529">
            <a:off x="13045193" y="417209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3" y="0"/>
                </a:lnTo>
                <a:lnTo>
                  <a:pt x="5035683" y="2312902"/>
                </a:lnTo>
                <a:lnTo>
                  <a:pt x="0" y="231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1431" y="1832935"/>
            <a:ext cx="7962492" cy="7448853"/>
          </a:xfrm>
          <a:custGeom>
            <a:avLst/>
            <a:gdLst/>
            <a:ahLst/>
            <a:cxnLst/>
            <a:rect r="r" b="b" t="t" l="l"/>
            <a:pathLst>
              <a:path h="7448853" w="7962492">
                <a:moveTo>
                  <a:pt x="0" y="0"/>
                </a:moveTo>
                <a:lnTo>
                  <a:pt x="7962493" y="0"/>
                </a:lnTo>
                <a:lnTo>
                  <a:pt x="7962493" y="7448853"/>
                </a:lnTo>
                <a:lnTo>
                  <a:pt x="0" y="74488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447" r="0" b="-344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837420" y="5364480"/>
            <a:ext cx="188595" cy="184785"/>
            <a:chOff x="0" y="0"/>
            <a:chExt cx="251460" cy="246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604" y="50746"/>
              <a:ext cx="148786" cy="147163"/>
            </a:xfrm>
            <a:custGeom>
              <a:avLst/>
              <a:gdLst/>
              <a:ahLst/>
              <a:cxnLst/>
              <a:rect r="r" b="b" t="t" l="l"/>
              <a:pathLst>
                <a:path h="147163" w="148786">
                  <a:moveTo>
                    <a:pt x="148786" y="52124"/>
                  </a:moveTo>
                  <a:cubicBezTo>
                    <a:pt x="128466" y="133404"/>
                    <a:pt x="119576" y="139754"/>
                    <a:pt x="106876" y="143564"/>
                  </a:cubicBezTo>
                  <a:cubicBezTo>
                    <a:pt x="89096" y="149914"/>
                    <a:pt x="53536" y="147374"/>
                    <a:pt x="3575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466" y="61014"/>
                    <a:pt x="15436" y="27994"/>
                    <a:pt x="29406" y="1402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83128" y="5354003"/>
            <a:ext cx="274320" cy="375285"/>
            <a:chOff x="0" y="0"/>
            <a:chExt cx="365760" cy="5003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3333" y="49910"/>
              <a:ext cx="271702" cy="402885"/>
            </a:xfrm>
            <a:custGeom>
              <a:avLst/>
              <a:gdLst/>
              <a:ahLst/>
              <a:cxnLst/>
              <a:rect r="r" b="b" t="t" l="l"/>
              <a:pathLst>
                <a:path h="402885" w="271702">
                  <a:moveTo>
                    <a:pt x="257657" y="121540"/>
                  </a:moveTo>
                  <a:cubicBezTo>
                    <a:pt x="170027" y="300610"/>
                    <a:pt x="176377" y="339980"/>
                    <a:pt x="162407" y="362840"/>
                  </a:cubicBezTo>
                  <a:cubicBezTo>
                    <a:pt x="152247" y="380620"/>
                    <a:pt x="134467" y="393320"/>
                    <a:pt x="116687" y="398400"/>
                  </a:cubicBezTo>
                  <a:cubicBezTo>
                    <a:pt x="100177" y="404750"/>
                    <a:pt x="76047" y="404750"/>
                    <a:pt x="59537" y="395860"/>
                  </a:cubicBezTo>
                  <a:cubicBezTo>
                    <a:pt x="40487" y="385700"/>
                    <a:pt x="22707" y="365380"/>
                    <a:pt x="12547" y="336170"/>
                  </a:cubicBezTo>
                  <a:cubicBezTo>
                    <a:pt x="-6503" y="284100"/>
                    <a:pt x="-153" y="140590"/>
                    <a:pt x="7467" y="89790"/>
                  </a:cubicBezTo>
                  <a:cubicBezTo>
                    <a:pt x="11277" y="65660"/>
                    <a:pt x="12547" y="51690"/>
                    <a:pt x="25247" y="37720"/>
                  </a:cubicBezTo>
                  <a:cubicBezTo>
                    <a:pt x="39217" y="22480"/>
                    <a:pt x="74777" y="5970"/>
                    <a:pt x="96367" y="4700"/>
                  </a:cubicBezTo>
                  <a:cubicBezTo>
                    <a:pt x="114147" y="4700"/>
                    <a:pt x="133197" y="13590"/>
                    <a:pt x="147167" y="25020"/>
                  </a:cubicBezTo>
                  <a:cubicBezTo>
                    <a:pt x="159867" y="36450"/>
                    <a:pt x="172567" y="52960"/>
                    <a:pt x="173837" y="70740"/>
                  </a:cubicBezTo>
                  <a:cubicBezTo>
                    <a:pt x="177647" y="92330"/>
                    <a:pt x="168757" y="130430"/>
                    <a:pt x="153517" y="146940"/>
                  </a:cubicBezTo>
                  <a:cubicBezTo>
                    <a:pt x="137007" y="164720"/>
                    <a:pt x="100177" y="174880"/>
                    <a:pt x="78587" y="172340"/>
                  </a:cubicBezTo>
                  <a:cubicBezTo>
                    <a:pt x="60807" y="171070"/>
                    <a:pt x="43027" y="159640"/>
                    <a:pt x="30327" y="146940"/>
                  </a:cubicBezTo>
                  <a:cubicBezTo>
                    <a:pt x="18897" y="135510"/>
                    <a:pt x="8737" y="116460"/>
                    <a:pt x="8737" y="98680"/>
                  </a:cubicBezTo>
                  <a:cubicBezTo>
                    <a:pt x="7467" y="77090"/>
                    <a:pt x="20167" y="40260"/>
                    <a:pt x="37947" y="25020"/>
                  </a:cubicBezTo>
                  <a:cubicBezTo>
                    <a:pt x="55727" y="9780"/>
                    <a:pt x="92557" y="3430"/>
                    <a:pt x="114147" y="8510"/>
                  </a:cubicBezTo>
                  <a:cubicBezTo>
                    <a:pt x="131927" y="11050"/>
                    <a:pt x="148437" y="25020"/>
                    <a:pt x="158597" y="37720"/>
                  </a:cubicBezTo>
                  <a:cubicBezTo>
                    <a:pt x="170027" y="51690"/>
                    <a:pt x="172567" y="65660"/>
                    <a:pt x="176377" y="89790"/>
                  </a:cubicBezTo>
                  <a:cubicBezTo>
                    <a:pt x="183997" y="141860"/>
                    <a:pt x="187807" y="295530"/>
                    <a:pt x="170027" y="345060"/>
                  </a:cubicBezTo>
                  <a:cubicBezTo>
                    <a:pt x="162407" y="367920"/>
                    <a:pt x="152247" y="381890"/>
                    <a:pt x="134467" y="390780"/>
                  </a:cubicBezTo>
                  <a:cubicBezTo>
                    <a:pt x="116687" y="400940"/>
                    <a:pt x="79857" y="404750"/>
                    <a:pt x="59537" y="395860"/>
                  </a:cubicBezTo>
                  <a:cubicBezTo>
                    <a:pt x="39217" y="386970"/>
                    <a:pt x="18897" y="359030"/>
                    <a:pt x="12547" y="336170"/>
                  </a:cubicBezTo>
                  <a:cubicBezTo>
                    <a:pt x="4927" y="313310"/>
                    <a:pt x="10007" y="289180"/>
                    <a:pt x="17627" y="258700"/>
                  </a:cubicBezTo>
                  <a:cubicBezTo>
                    <a:pt x="29057" y="211710"/>
                    <a:pt x="69697" y="122810"/>
                    <a:pt x="92557" y="83440"/>
                  </a:cubicBezTo>
                  <a:cubicBezTo>
                    <a:pt x="106527" y="59310"/>
                    <a:pt x="115417" y="45340"/>
                    <a:pt x="129387" y="31370"/>
                  </a:cubicBezTo>
                  <a:cubicBezTo>
                    <a:pt x="143357" y="18670"/>
                    <a:pt x="158597" y="3430"/>
                    <a:pt x="176377" y="890"/>
                  </a:cubicBezTo>
                  <a:cubicBezTo>
                    <a:pt x="196697" y="-2920"/>
                    <a:pt x="229717" y="5970"/>
                    <a:pt x="246227" y="18670"/>
                  </a:cubicBezTo>
                  <a:cubicBezTo>
                    <a:pt x="260197" y="30100"/>
                    <a:pt x="269087" y="51690"/>
                    <a:pt x="271627" y="68200"/>
                  </a:cubicBezTo>
                  <a:cubicBezTo>
                    <a:pt x="272897" y="85980"/>
                    <a:pt x="257657" y="121540"/>
                    <a:pt x="257657" y="12154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623179" y="5729288"/>
            <a:ext cx="671512" cy="301942"/>
            <a:chOff x="0" y="0"/>
            <a:chExt cx="895350" cy="4025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4540" y="48909"/>
              <a:ext cx="800673" cy="306598"/>
            </a:xfrm>
            <a:custGeom>
              <a:avLst/>
              <a:gdLst/>
              <a:ahLst/>
              <a:cxnLst/>
              <a:rect r="r" b="b" t="t" l="l"/>
              <a:pathLst>
                <a:path h="306598" w="800673">
                  <a:moveTo>
                    <a:pt x="173900" y="60311"/>
                  </a:moveTo>
                  <a:cubicBezTo>
                    <a:pt x="468540" y="45071"/>
                    <a:pt x="497750" y="42531"/>
                    <a:pt x="520610" y="52691"/>
                  </a:cubicBezTo>
                  <a:cubicBezTo>
                    <a:pt x="538390" y="62851"/>
                    <a:pt x="552360" y="79361"/>
                    <a:pt x="558710" y="97141"/>
                  </a:cubicBezTo>
                  <a:cubicBezTo>
                    <a:pt x="565060" y="113651"/>
                    <a:pt x="565060" y="137781"/>
                    <a:pt x="558710" y="154291"/>
                  </a:cubicBezTo>
                  <a:cubicBezTo>
                    <a:pt x="552360" y="172071"/>
                    <a:pt x="534580" y="189851"/>
                    <a:pt x="520610" y="198741"/>
                  </a:cubicBezTo>
                  <a:cubicBezTo>
                    <a:pt x="509180" y="205091"/>
                    <a:pt x="501560" y="206361"/>
                    <a:pt x="482510" y="207631"/>
                  </a:cubicBezTo>
                  <a:cubicBezTo>
                    <a:pt x="424090" y="211441"/>
                    <a:pt x="171360" y="217791"/>
                    <a:pt x="131990" y="173341"/>
                  </a:cubicBezTo>
                  <a:cubicBezTo>
                    <a:pt x="110400" y="147941"/>
                    <a:pt x="123100" y="75551"/>
                    <a:pt x="137070" y="69201"/>
                  </a:cubicBezTo>
                  <a:cubicBezTo>
                    <a:pt x="151040" y="62851"/>
                    <a:pt x="180250" y="112381"/>
                    <a:pt x="213270" y="123811"/>
                  </a:cubicBezTo>
                  <a:cubicBezTo>
                    <a:pt x="256450" y="137781"/>
                    <a:pt x="333920" y="139051"/>
                    <a:pt x="380910" y="126351"/>
                  </a:cubicBezTo>
                  <a:cubicBezTo>
                    <a:pt x="417740" y="117461"/>
                    <a:pt x="444410" y="85711"/>
                    <a:pt x="474890" y="71741"/>
                  </a:cubicBezTo>
                  <a:cubicBezTo>
                    <a:pt x="501560" y="61581"/>
                    <a:pt x="520610" y="53961"/>
                    <a:pt x="553630" y="50151"/>
                  </a:cubicBezTo>
                  <a:cubicBezTo>
                    <a:pt x="604430" y="43801"/>
                    <a:pt x="712380" y="39991"/>
                    <a:pt x="751750" y="59041"/>
                  </a:cubicBezTo>
                  <a:cubicBezTo>
                    <a:pt x="774610" y="69201"/>
                    <a:pt x="787310" y="89521"/>
                    <a:pt x="794930" y="106031"/>
                  </a:cubicBezTo>
                  <a:cubicBezTo>
                    <a:pt x="801280" y="120001"/>
                    <a:pt x="801280" y="135241"/>
                    <a:pt x="800010" y="149211"/>
                  </a:cubicBezTo>
                  <a:cubicBezTo>
                    <a:pt x="797470" y="163181"/>
                    <a:pt x="792390" y="178421"/>
                    <a:pt x="784770" y="189851"/>
                  </a:cubicBezTo>
                  <a:cubicBezTo>
                    <a:pt x="777150" y="201281"/>
                    <a:pt x="770800" y="210171"/>
                    <a:pt x="751750" y="217791"/>
                  </a:cubicBezTo>
                  <a:cubicBezTo>
                    <a:pt x="702220" y="238111"/>
                    <a:pt x="490130" y="238111"/>
                    <a:pt x="427900" y="229221"/>
                  </a:cubicBezTo>
                  <a:cubicBezTo>
                    <a:pt x="402500" y="225411"/>
                    <a:pt x="388530" y="221601"/>
                    <a:pt x="373290" y="210171"/>
                  </a:cubicBezTo>
                  <a:cubicBezTo>
                    <a:pt x="359320" y="198741"/>
                    <a:pt x="345350" y="182231"/>
                    <a:pt x="341540" y="163181"/>
                  </a:cubicBezTo>
                  <a:cubicBezTo>
                    <a:pt x="336460" y="139051"/>
                    <a:pt x="345350" y="98411"/>
                    <a:pt x="359320" y="79361"/>
                  </a:cubicBezTo>
                  <a:cubicBezTo>
                    <a:pt x="370750" y="64121"/>
                    <a:pt x="391070" y="53961"/>
                    <a:pt x="408850" y="50151"/>
                  </a:cubicBezTo>
                  <a:cubicBezTo>
                    <a:pt x="426630" y="46341"/>
                    <a:pt x="449490" y="46341"/>
                    <a:pt x="466000" y="56501"/>
                  </a:cubicBezTo>
                  <a:cubicBezTo>
                    <a:pt x="486320" y="67931"/>
                    <a:pt x="511720" y="100951"/>
                    <a:pt x="516800" y="123811"/>
                  </a:cubicBezTo>
                  <a:cubicBezTo>
                    <a:pt x="521880" y="142861"/>
                    <a:pt x="516800" y="164451"/>
                    <a:pt x="507910" y="180961"/>
                  </a:cubicBezTo>
                  <a:cubicBezTo>
                    <a:pt x="499020" y="197471"/>
                    <a:pt x="483780" y="213981"/>
                    <a:pt x="466000" y="220331"/>
                  </a:cubicBezTo>
                  <a:cubicBezTo>
                    <a:pt x="444410" y="227951"/>
                    <a:pt x="402500" y="226681"/>
                    <a:pt x="382180" y="215251"/>
                  </a:cubicBezTo>
                  <a:cubicBezTo>
                    <a:pt x="364400" y="207631"/>
                    <a:pt x="350430" y="188581"/>
                    <a:pt x="344080" y="172071"/>
                  </a:cubicBezTo>
                  <a:cubicBezTo>
                    <a:pt x="337730" y="155561"/>
                    <a:pt x="333920" y="132701"/>
                    <a:pt x="341540" y="113651"/>
                  </a:cubicBezTo>
                  <a:cubicBezTo>
                    <a:pt x="349160" y="92061"/>
                    <a:pt x="368210" y="66661"/>
                    <a:pt x="399960" y="52691"/>
                  </a:cubicBezTo>
                  <a:cubicBezTo>
                    <a:pt x="459650" y="26021"/>
                    <a:pt x="655230" y="42531"/>
                    <a:pt x="711110" y="48881"/>
                  </a:cubicBezTo>
                  <a:cubicBezTo>
                    <a:pt x="731430" y="51421"/>
                    <a:pt x="740320" y="52691"/>
                    <a:pt x="751750" y="59041"/>
                  </a:cubicBezTo>
                  <a:cubicBezTo>
                    <a:pt x="764450" y="65391"/>
                    <a:pt x="777150" y="74281"/>
                    <a:pt x="784770" y="86981"/>
                  </a:cubicBezTo>
                  <a:cubicBezTo>
                    <a:pt x="793660" y="103491"/>
                    <a:pt x="801280" y="131431"/>
                    <a:pt x="800010" y="149211"/>
                  </a:cubicBezTo>
                  <a:cubicBezTo>
                    <a:pt x="798740" y="164451"/>
                    <a:pt x="792390" y="178421"/>
                    <a:pt x="784770" y="189851"/>
                  </a:cubicBezTo>
                  <a:cubicBezTo>
                    <a:pt x="777150" y="201281"/>
                    <a:pt x="764450" y="211441"/>
                    <a:pt x="751750" y="217791"/>
                  </a:cubicBezTo>
                  <a:cubicBezTo>
                    <a:pt x="740320" y="224141"/>
                    <a:pt x="728890" y="226681"/>
                    <a:pt x="711110" y="227951"/>
                  </a:cubicBezTo>
                  <a:cubicBezTo>
                    <a:pt x="678090" y="230491"/>
                    <a:pt x="609510" y="208901"/>
                    <a:pt x="570140" y="217791"/>
                  </a:cubicBezTo>
                  <a:cubicBezTo>
                    <a:pt x="538390" y="225411"/>
                    <a:pt x="516800" y="252081"/>
                    <a:pt x="487590" y="266051"/>
                  </a:cubicBezTo>
                  <a:cubicBezTo>
                    <a:pt x="454570" y="280021"/>
                    <a:pt x="420280" y="296531"/>
                    <a:pt x="380910" y="302881"/>
                  </a:cubicBezTo>
                  <a:cubicBezTo>
                    <a:pt x="330110" y="310501"/>
                    <a:pt x="253910" y="305421"/>
                    <a:pt x="206920" y="296531"/>
                  </a:cubicBezTo>
                  <a:cubicBezTo>
                    <a:pt x="172630" y="290181"/>
                    <a:pt x="148500" y="280021"/>
                    <a:pt x="121830" y="266051"/>
                  </a:cubicBezTo>
                  <a:cubicBezTo>
                    <a:pt x="93890" y="253351"/>
                    <a:pt x="62140" y="236841"/>
                    <a:pt x="44360" y="215251"/>
                  </a:cubicBezTo>
                  <a:cubicBezTo>
                    <a:pt x="27850" y="194931"/>
                    <a:pt x="18960" y="168261"/>
                    <a:pt x="12610" y="141591"/>
                  </a:cubicBezTo>
                  <a:cubicBezTo>
                    <a:pt x="4990" y="112381"/>
                    <a:pt x="-7710" y="69201"/>
                    <a:pt x="6260" y="46341"/>
                  </a:cubicBezTo>
                  <a:cubicBezTo>
                    <a:pt x="21500" y="22211"/>
                    <a:pt x="76110" y="8241"/>
                    <a:pt x="107860" y="1891"/>
                  </a:cubicBezTo>
                  <a:cubicBezTo>
                    <a:pt x="135800" y="-3189"/>
                    <a:pt x="153580" y="3161"/>
                    <a:pt x="190410" y="6971"/>
                  </a:cubicBezTo>
                  <a:cubicBezTo>
                    <a:pt x="260260" y="12051"/>
                    <a:pt x="444410" y="24751"/>
                    <a:pt x="501560" y="46341"/>
                  </a:cubicBezTo>
                  <a:cubicBezTo>
                    <a:pt x="526960" y="55231"/>
                    <a:pt x="539660" y="62851"/>
                    <a:pt x="549820" y="79361"/>
                  </a:cubicBezTo>
                  <a:cubicBezTo>
                    <a:pt x="561250" y="97141"/>
                    <a:pt x="566330" y="133971"/>
                    <a:pt x="558710" y="154291"/>
                  </a:cubicBezTo>
                  <a:cubicBezTo>
                    <a:pt x="551090" y="175881"/>
                    <a:pt x="532040" y="193661"/>
                    <a:pt x="501560" y="205091"/>
                  </a:cubicBezTo>
                  <a:cubicBezTo>
                    <a:pt x="439330" y="230491"/>
                    <a:pt x="239940" y="231761"/>
                    <a:pt x="173900" y="216521"/>
                  </a:cubicBezTo>
                  <a:cubicBezTo>
                    <a:pt x="143420" y="208901"/>
                    <a:pt x="123100" y="198741"/>
                    <a:pt x="110400" y="182231"/>
                  </a:cubicBezTo>
                  <a:cubicBezTo>
                    <a:pt x="98970" y="168261"/>
                    <a:pt x="95160" y="146671"/>
                    <a:pt x="96430" y="128891"/>
                  </a:cubicBezTo>
                  <a:cubicBezTo>
                    <a:pt x="98970" y="112381"/>
                    <a:pt x="110400" y="92061"/>
                    <a:pt x="123100" y="80631"/>
                  </a:cubicBezTo>
                  <a:cubicBezTo>
                    <a:pt x="135800" y="69201"/>
                    <a:pt x="175170" y="60311"/>
                    <a:pt x="175170" y="60311"/>
                  </a:cubicBezTo>
                </a:path>
              </a:pathLst>
            </a:custGeom>
            <a:solidFill>
              <a:srgbClr val="BFDE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006560" y="6152387"/>
            <a:ext cx="576262" cy="282892"/>
            <a:chOff x="0" y="0"/>
            <a:chExt cx="768350" cy="3771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12" y="50800"/>
              <a:ext cx="666231" cy="277984"/>
            </a:xfrm>
            <a:custGeom>
              <a:avLst/>
              <a:gdLst/>
              <a:ahLst/>
              <a:cxnLst/>
              <a:rect r="r" b="b" t="t" l="l"/>
              <a:pathLst>
                <a:path h="277984" w="666231">
                  <a:moveTo>
                    <a:pt x="77558" y="19050"/>
                  </a:moveTo>
                  <a:cubicBezTo>
                    <a:pt x="462368" y="10160"/>
                    <a:pt x="480148" y="0"/>
                    <a:pt x="510628" y="0"/>
                  </a:cubicBezTo>
                  <a:cubicBezTo>
                    <a:pt x="544918" y="0"/>
                    <a:pt x="594448" y="1270"/>
                    <a:pt x="621118" y="15240"/>
                  </a:cubicBezTo>
                  <a:cubicBezTo>
                    <a:pt x="640168" y="25400"/>
                    <a:pt x="654138" y="43180"/>
                    <a:pt x="660488" y="60960"/>
                  </a:cubicBezTo>
                  <a:cubicBezTo>
                    <a:pt x="668108" y="78740"/>
                    <a:pt x="665568" y="105410"/>
                    <a:pt x="660488" y="121920"/>
                  </a:cubicBezTo>
                  <a:cubicBezTo>
                    <a:pt x="656678" y="134620"/>
                    <a:pt x="651598" y="144780"/>
                    <a:pt x="637628" y="154940"/>
                  </a:cubicBezTo>
                  <a:cubicBezTo>
                    <a:pt x="612228" y="175260"/>
                    <a:pt x="558888" y="198120"/>
                    <a:pt x="503008" y="207010"/>
                  </a:cubicBezTo>
                  <a:cubicBezTo>
                    <a:pt x="417918" y="220980"/>
                    <a:pt x="219798" y="231140"/>
                    <a:pt x="171538" y="193040"/>
                  </a:cubicBezTo>
                  <a:cubicBezTo>
                    <a:pt x="147408" y="173990"/>
                    <a:pt x="135978" y="128270"/>
                    <a:pt x="147408" y="107950"/>
                  </a:cubicBezTo>
                  <a:cubicBezTo>
                    <a:pt x="163918" y="81280"/>
                    <a:pt x="245198" y="77470"/>
                    <a:pt x="304888" y="69850"/>
                  </a:cubicBezTo>
                  <a:cubicBezTo>
                    <a:pt x="382358" y="62230"/>
                    <a:pt x="524598" y="55880"/>
                    <a:pt x="575398" y="73660"/>
                  </a:cubicBezTo>
                  <a:cubicBezTo>
                    <a:pt x="599528" y="82550"/>
                    <a:pt x="612228" y="93980"/>
                    <a:pt x="622388" y="109220"/>
                  </a:cubicBezTo>
                  <a:cubicBezTo>
                    <a:pt x="632548" y="124460"/>
                    <a:pt x="638898" y="147320"/>
                    <a:pt x="637628" y="165100"/>
                  </a:cubicBezTo>
                  <a:cubicBezTo>
                    <a:pt x="636358" y="182880"/>
                    <a:pt x="630008" y="205740"/>
                    <a:pt x="616038" y="218440"/>
                  </a:cubicBezTo>
                  <a:cubicBezTo>
                    <a:pt x="599528" y="234950"/>
                    <a:pt x="560158" y="251460"/>
                    <a:pt x="537298" y="250190"/>
                  </a:cubicBezTo>
                  <a:cubicBezTo>
                    <a:pt x="518248" y="250190"/>
                    <a:pt x="497928" y="238760"/>
                    <a:pt x="483958" y="226060"/>
                  </a:cubicBezTo>
                  <a:cubicBezTo>
                    <a:pt x="471258" y="213360"/>
                    <a:pt x="458558" y="194310"/>
                    <a:pt x="457288" y="175260"/>
                  </a:cubicBezTo>
                  <a:cubicBezTo>
                    <a:pt x="456018" y="151130"/>
                    <a:pt x="468718" y="111760"/>
                    <a:pt x="483958" y="93980"/>
                  </a:cubicBezTo>
                  <a:cubicBezTo>
                    <a:pt x="497928" y="80010"/>
                    <a:pt x="519518" y="72390"/>
                    <a:pt x="537298" y="69850"/>
                  </a:cubicBezTo>
                  <a:cubicBezTo>
                    <a:pt x="555078" y="67310"/>
                    <a:pt x="577938" y="71120"/>
                    <a:pt x="593178" y="82550"/>
                  </a:cubicBezTo>
                  <a:cubicBezTo>
                    <a:pt x="613498" y="96520"/>
                    <a:pt x="635088" y="132080"/>
                    <a:pt x="637628" y="154940"/>
                  </a:cubicBezTo>
                  <a:cubicBezTo>
                    <a:pt x="640168" y="173990"/>
                    <a:pt x="632548" y="195580"/>
                    <a:pt x="622388" y="210820"/>
                  </a:cubicBezTo>
                  <a:cubicBezTo>
                    <a:pt x="612228" y="226060"/>
                    <a:pt x="598258" y="238760"/>
                    <a:pt x="575398" y="246380"/>
                  </a:cubicBezTo>
                  <a:cubicBezTo>
                    <a:pt x="533488" y="260350"/>
                    <a:pt x="440778" y="245110"/>
                    <a:pt x="372198" y="250190"/>
                  </a:cubicBezTo>
                  <a:cubicBezTo>
                    <a:pt x="304888" y="255270"/>
                    <a:pt x="222338" y="273050"/>
                    <a:pt x="168998" y="275590"/>
                  </a:cubicBezTo>
                  <a:cubicBezTo>
                    <a:pt x="137248" y="276860"/>
                    <a:pt x="114388" y="281940"/>
                    <a:pt x="90258" y="271780"/>
                  </a:cubicBezTo>
                  <a:cubicBezTo>
                    <a:pt x="63588" y="260350"/>
                    <a:pt x="30568" y="233680"/>
                    <a:pt x="19138" y="207010"/>
                  </a:cubicBezTo>
                  <a:cubicBezTo>
                    <a:pt x="6438" y="180340"/>
                    <a:pt x="88" y="138430"/>
                    <a:pt x="16598" y="110490"/>
                  </a:cubicBezTo>
                  <a:cubicBezTo>
                    <a:pt x="38188" y="72390"/>
                    <a:pt x="114388" y="35560"/>
                    <a:pt x="175348" y="20320"/>
                  </a:cubicBezTo>
                  <a:cubicBezTo>
                    <a:pt x="246468" y="3810"/>
                    <a:pt x="363308" y="26670"/>
                    <a:pt x="421728" y="35560"/>
                  </a:cubicBezTo>
                  <a:cubicBezTo>
                    <a:pt x="454748" y="40640"/>
                    <a:pt x="473798" y="57150"/>
                    <a:pt x="499198" y="53340"/>
                  </a:cubicBezTo>
                  <a:cubicBezTo>
                    <a:pt x="525868" y="49530"/>
                    <a:pt x="557618" y="8890"/>
                    <a:pt x="580478" y="6350"/>
                  </a:cubicBezTo>
                  <a:cubicBezTo>
                    <a:pt x="595718" y="3810"/>
                    <a:pt x="608418" y="8890"/>
                    <a:pt x="621118" y="15240"/>
                  </a:cubicBezTo>
                  <a:cubicBezTo>
                    <a:pt x="635088" y="24130"/>
                    <a:pt x="654138" y="45720"/>
                    <a:pt x="660488" y="60960"/>
                  </a:cubicBezTo>
                  <a:cubicBezTo>
                    <a:pt x="666838" y="73660"/>
                    <a:pt x="666838" y="88900"/>
                    <a:pt x="665568" y="101600"/>
                  </a:cubicBezTo>
                  <a:cubicBezTo>
                    <a:pt x="664298" y="114300"/>
                    <a:pt x="660488" y="128270"/>
                    <a:pt x="651598" y="139700"/>
                  </a:cubicBezTo>
                  <a:cubicBezTo>
                    <a:pt x="640168" y="153670"/>
                    <a:pt x="622388" y="168910"/>
                    <a:pt x="602068" y="173990"/>
                  </a:cubicBezTo>
                  <a:cubicBezTo>
                    <a:pt x="575398" y="180340"/>
                    <a:pt x="533488" y="161290"/>
                    <a:pt x="501738" y="162560"/>
                  </a:cubicBezTo>
                  <a:cubicBezTo>
                    <a:pt x="473798" y="163830"/>
                    <a:pt x="459828" y="176530"/>
                    <a:pt x="422998" y="180340"/>
                  </a:cubicBezTo>
                  <a:cubicBezTo>
                    <a:pt x="349338" y="186690"/>
                    <a:pt x="141058" y="186690"/>
                    <a:pt x="77558" y="175260"/>
                  </a:cubicBezTo>
                  <a:cubicBezTo>
                    <a:pt x="52158" y="170180"/>
                    <a:pt x="38188" y="166370"/>
                    <a:pt x="25488" y="154940"/>
                  </a:cubicBezTo>
                  <a:cubicBezTo>
                    <a:pt x="12788" y="143510"/>
                    <a:pt x="1358" y="124460"/>
                    <a:pt x="88" y="106680"/>
                  </a:cubicBezTo>
                  <a:cubicBezTo>
                    <a:pt x="-1182" y="85090"/>
                    <a:pt x="11518" y="53340"/>
                    <a:pt x="25488" y="38100"/>
                  </a:cubicBezTo>
                  <a:cubicBezTo>
                    <a:pt x="38188" y="25400"/>
                    <a:pt x="77558" y="19050"/>
                    <a:pt x="77558" y="19050"/>
                  </a:cubicBezTo>
                </a:path>
              </a:pathLst>
            </a:custGeom>
            <a:solidFill>
              <a:srgbClr val="BFDEF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144000" y="1734285"/>
            <a:ext cx="7930526" cy="7990005"/>
          </a:xfrm>
          <a:custGeom>
            <a:avLst/>
            <a:gdLst/>
            <a:ahLst/>
            <a:cxnLst/>
            <a:rect r="r" b="b" t="t" l="l"/>
            <a:pathLst>
              <a:path h="7990005" w="7930526">
                <a:moveTo>
                  <a:pt x="0" y="0"/>
                </a:moveTo>
                <a:lnTo>
                  <a:pt x="7930526" y="0"/>
                </a:lnTo>
                <a:lnTo>
                  <a:pt x="7930526" y="7990005"/>
                </a:lnTo>
                <a:lnTo>
                  <a:pt x="0" y="7990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-3532840" y="642950"/>
            <a:ext cx="1051751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Implementation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14401" y="5820727"/>
            <a:ext cx="489069" cy="167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sz="9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serialize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59315" y="6200366"/>
            <a:ext cx="470752" cy="167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sz="9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sigmoid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61528" y="-33338"/>
            <a:ext cx="10517519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1"/>
              </a:lnSpc>
            </a:pPr>
          </a:p>
          <a:p>
            <a:pPr algn="r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Prototype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5604" y="1930320"/>
            <a:ext cx="932492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Result &amp;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2185" y="3196504"/>
            <a:ext cx="11250788" cy="47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093" indent="-296047" lvl="1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System Reliability: The model correctly identifies standard risk profiles based on established lifestyle markers.</a:t>
            </a:r>
          </a:p>
          <a:p>
            <a:pPr algn="l" marL="592093" indent="-296047" lvl="1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Functional Verification:</a:t>
            </a:r>
          </a:p>
          <a:p>
            <a:pPr algn="l" marL="592093" indent="-296047" lvl="1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Test Case 1 (High Risk): Input of low sleep (&lt;4 hrs) and low mood (&lt;3) successfully triggers the "High Risk" alert.</a:t>
            </a:r>
          </a:p>
          <a:p>
            <a:pPr algn="l" marL="592093" indent="-296047" lvl="1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Test Case 2 (Low Risk): Input of optimal sleep (&gt;7 hrs) and high activity triggers the "Neurological Wellness" confirmation.</a:t>
            </a:r>
          </a:p>
          <a:p>
            <a:pPr algn="l" marL="592093" indent="-296047" lvl="1">
              <a:lnSpc>
                <a:spcPts val="3839"/>
              </a:lnSpc>
              <a:buFont typeface="Arial"/>
              <a:buChar char="•"/>
            </a:pPr>
            <a:r>
              <a:rPr lang="en-US" sz="2742" spc="3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Response Latency: System completes the logic execution in under 0.5 seconds locally.</a:t>
            </a:r>
          </a:p>
          <a:p>
            <a:pPr algn="l" marL="592093" indent="-296047" lvl="1">
              <a:lnSpc>
                <a:spcPts val="3839"/>
              </a:lnSpc>
              <a:buFont typeface="Arial"/>
              <a:buChar char="•"/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96619" y="-171812"/>
            <a:ext cx="6111878" cy="2401025"/>
          </a:xfrm>
          <a:custGeom>
            <a:avLst/>
            <a:gdLst/>
            <a:ahLst/>
            <a:cxnLst/>
            <a:rect r="r" b="b" t="t" l="l"/>
            <a:pathLst>
              <a:path h="2401025" w="6111878">
                <a:moveTo>
                  <a:pt x="0" y="0"/>
                </a:moveTo>
                <a:lnTo>
                  <a:pt x="6111878" y="0"/>
                </a:lnTo>
                <a:lnTo>
                  <a:pt x="6111878" y="2401024"/>
                </a:lnTo>
                <a:lnTo>
                  <a:pt x="0" y="2401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141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34905" y="6725668"/>
            <a:ext cx="4362433" cy="3561332"/>
          </a:xfrm>
          <a:custGeom>
            <a:avLst/>
            <a:gdLst/>
            <a:ahLst/>
            <a:cxnLst/>
            <a:rect r="r" b="b" t="t" l="l"/>
            <a:pathLst>
              <a:path h="3561332" w="4362433">
                <a:moveTo>
                  <a:pt x="0" y="0"/>
                </a:moveTo>
                <a:lnTo>
                  <a:pt x="4362433" y="0"/>
                </a:lnTo>
                <a:lnTo>
                  <a:pt x="4362433" y="3561332"/>
                </a:lnTo>
                <a:lnTo>
                  <a:pt x="0" y="35613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83223">
            <a:off x="-1055656" y="-525996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3" y="0"/>
                </a:lnTo>
                <a:lnTo>
                  <a:pt x="5035683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888984">
            <a:off x="-833435" y="8295715"/>
            <a:ext cx="6113794" cy="2808080"/>
          </a:xfrm>
          <a:custGeom>
            <a:avLst/>
            <a:gdLst/>
            <a:ahLst/>
            <a:cxnLst/>
            <a:rect r="r" b="b" t="t" l="l"/>
            <a:pathLst>
              <a:path h="2808080" w="6113794">
                <a:moveTo>
                  <a:pt x="0" y="0"/>
                </a:moveTo>
                <a:lnTo>
                  <a:pt x="6113794" y="0"/>
                </a:lnTo>
                <a:lnTo>
                  <a:pt x="6113794" y="2808080"/>
                </a:lnTo>
                <a:lnTo>
                  <a:pt x="0" y="2808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1561" y="3513362"/>
            <a:ext cx="6352439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7" b="true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Conclusion: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Successfully integrated a machine learning model into a user-facing web dashboard.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Created a working prototype for non-clinical neurological risk screening.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Maintained a lightweight and high-performance local execution environment.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173055" y="8199507"/>
            <a:ext cx="5397094" cy="2087493"/>
          </a:xfrm>
          <a:custGeom>
            <a:avLst/>
            <a:gdLst/>
            <a:ahLst/>
            <a:cxnLst/>
            <a:rect r="r" b="b" t="t" l="l"/>
            <a:pathLst>
              <a:path h="2087493" w="5397094">
                <a:moveTo>
                  <a:pt x="0" y="0"/>
                </a:moveTo>
                <a:lnTo>
                  <a:pt x="5397094" y="0"/>
                </a:lnTo>
                <a:lnTo>
                  <a:pt x="5397094" y="2087493"/>
                </a:lnTo>
                <a:lnTo>
                  <a:pt x="0" y="2087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77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71602" y="-1082192"/>
            <a:ext cx="4331872" cy="4245235"/>
          </a:xfrm>
          <a:custGeom>
            <a:avLst/>
            <a:gdLst/>
            <a:ahLst/>
            <a:cxnLst/>
            <a:rect r="r" b="b" t="t" l="l"/>
            <a:pathLst>
              <a:path h="4245235" w="4331872">
                <a:moveTo>
                  <a:pt x="0" y="0"/>
                </a:moveTo>
                <a:lnTo>
                  <a:pt x="4331872" y="0"/>
                </a:lnTo>
                <a:lnTo>
                  <a:pt x="4331872" y="4245234"/>
                </a:lnTo>
                <a:lnTo>
                  <a:pt x="0" y="4245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6675" y="7654062"/>
            <a:ext cx="5350780" cy="4368182"/>
          </a:xfrm>
          <a:custGeom>
            <a:avLst/>
            <a:gdLst/>
            <a:ahLst/>
            <a:cxnLst/>
            <a:rect r="r" b="b" t="t" l="l"/>
            <a:pathLst>
              <a:path h="4368182" w="5350780">
                <a:moveTo>
                  <a:pt x="0" y="0"/>
                </a:moveTo>
                <a:lnTo>
                  <a:pt x="5350780" y="0"/>
                </a:lnTo>
                <a:lnTo>
                  <a:pt x="5350780" y="4368182"/>
                </a:lnTo>
                <a:lnTo>
                  <a:pt x="0" y="4368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40302" y="-376815"/>
            <a:ext cx="5035683" cy="2312901"/>
          </a:xfrm>
          <a:custGeom>
            <a:avLst/>
            <a:gdLst/>
            <a:ahLst/>
            <a:cxnLst/>
            <a:rect r="r" b="b" t="t" l="l"/>
            <a:pathLst>
              <a:path h="2312901" w="5035683">
                <a:moveTo>
                  <a:pt x="0" y="0"/>
                </a:moveTo>
                <a:lnTo>
                  <a:pt x="5035684" y="0"/>
                </a:lnTo>
                <a:lnTo>
                  <a:pt x="5035684" y="2312901"/>
                </a:lnTo>
                <a:lnTo>
                  <a:pt x="0" y="231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427370">
            <a:off x="-2589043" y="-286003"/>
            <a:ext cx="6105575" cy="5017673"/>
          </a:xfrm>
          <a:custGeom>
            <a:avLst/>
            <a:gdLst/>
            <a:ahLst/>
            <a:cxnLst/>
            <a:rect r="r" b="b" t="t" l="l"/>
            <a:pathLst>
              <a:path h="5017673" w="6105575">
                <a:moveTo>
                  <a:pt x="0" y="0"/>
                </a:moveTo>
                <a:lnTo>
                  <a:pt x="6105575" y="0"/>
                </a:lnTo>
                <a:lnTo>
                  <a:pt x="6105575" y="5017673"/>
                </a:lnTo>
                <a:lnTo>
                  <a:pt x="0" y="50176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479998">
            <a:off x="5817110" y="8604724"/>
            <a:ext cx="6113794" cy="2808080"/>
          </a:xfrm>
          <a:custGeom>
            <a:avLst/>
            <a:gdLst/>
            <a:ahLst/>
            <a:cxnLst/>
            <a:rect r="r" b="b" t="t" l="l"/>
            <a:pathLst>
              <a:path h="2808080" w="6113794">
                <a:moveTo>
                  <a:pt x="0" y="0"/>
                </a:moveTo>
                <a:lnTo>
                  <a:pt x="6113794" y="0"/>
                </a:lnTo>
                <a:lnTo>
                  <a:pt x="6113794" y="2808079"/>
                </a:lnTo>
                <a:lnTo>
                  <a:pt x="0" y="28080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19163" y="3513362"/>
            <a:ext cx="6352439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2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Future Scope (Roadmap): </a:t>
            </a:r>
          </a:p>
          <a:p>
            <a:pPr algn="just">
              <a:lnSpc>
                <a:spcPts val="3499"/>
              </a:lnSpc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Advanced AI: Integration of Recurrent Neural Networks (RNNs) to analyze temporal patterns (trends over weeks).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Interoperability: Implementation of FHIR/HL7 standards to allow data sharing with hospital management systems.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2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IoT Integration: Real-time data sync with smartwatches for automatic sleep and activity logging.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35216" y="1783686"/>
            <a:ext cx="11675060" cy="132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0"/>
              </a:lnSpc>
            </a:pPr>
            <a:r>
              <a:rPr lang="en-US" sz="7707">
                <a:solidFill>
                  <a:srgbClr val="F9E2CF"/>
                </a:solidFill>
                <a:latin typeface="More Sugar"/>
                <a:ea typeface="More Sugar"/>
                <a:cs typeface="More Sugar"/>
                <a:sym typeface="More Sugar"/>
              </a:rPr>
              <a:t>Conclusion &amp; Future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DAG7e9NIw0w</dc:identifier>
  <dcterms:modified xsi:type="dcterms:W3CDTF">2011-08-01T06:04:30Z</dcterms:modified>
  <cp:revision>1</cp:revision>
  <dc:title>Pink and Green Playful Neuron Brain Group Project Presentation</dc:title>
</cp:coreProperties>
</file>